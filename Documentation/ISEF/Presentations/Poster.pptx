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65" r:id="rId4"/>
    <p:sldId id="284" r:id="rId5"/>
    <p:sldId id="266" r:id="rId6"/>
    <p:sldId id="274" r:id="rId7"/>
    <p:sldId id="275" r:id="rId8"/>
    <p:sldId id="276" r:id="rId9"/>
    <p:sldId id="273" r:id="rId10"/>
    <p:sldId id="277" r:id="rId11"/>
    <p:sldId id="279" r:id="rId12"/>
    <p:sldId id="280" r:id="rId13"/>
    <p:sldId id="281" r:id="rId14"/>
    <p:sldId id="282"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533" y="763"/>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1675814-F93D-49AF-BE9D-D9E10357E89C}" type="doc">
      <dgm:prSet loTypeId="cycle" loCatId="cycle" qsTypeId="urn:microsoft.com/office/officeart/2005/8/quickstyle/simple1" qsCatId="simple" csTypeId="urn:microsoft.com/office/officeart/2005/8/colors/accent1_2" csCatId="accent1" phldr="1"/>
      <dgm:spPr/>
      <dgm:t>
        <a:bodyPr/>
        <a:p>
          <a:endParaRPr lang="en-US"/>
        </a:p>
      </dgm:t>
    </dgm:pt>
    <dgm:pt modelId="{19128D80-C668-4E2D-ADE5-4D8C214258F7}">
      <dgm:prSet phldrT="[Text]" phldr="0" custT="1"/>
      <dgm:spPr/>
      <dgm:t>
        <a:bodyPr vert="horz" wrap="square"/>
        <a:p>
          <a:pPr>
            <a:lnSpc>
              <a:spcPct val="100000"/>
            </a:lnSpc>
            <a:spcBef>
              <a:spcPct val="0"/>
            </a:spcBef>
            <a:spcAft>
              <a:spcPct val="35000"/>
            </a:spcAft>
          </a:pPr>
          <a:r>
            <a:rPr lang="en-US" sz="1800"/>
            <a:t>Client A types a </a:t>
          </a:r>
          <a:r>
            <a:rPr lang="en-US" altLang="en-US" sz="1800"/>
            <a:t>message</a:t>
          </a:r>
          <a:r>
            <a:rPr lang="en-US" altLang="en-US" sz="1800"/>
            <a:t/>
          </a:r>
          <a:endParaRPr lang="en-US" altLang="en-US" sz="1800"/>
        </a:p>
      </dgm:t>
    </dgm:pt>
    <dgm:pt modelId="{DE0F27FA-73BB-4EA4-9778-8D9EBA925AF5}" cxnId="{9495C5ED-BE5A-4DA0-A2FA-86EF1453FB47}" type="parTrans">
      <dgm:prSet/>
      <dgm:spPr/>
      <dgm:t>
        <a:bodyPr/>
        <a:p>
          <a:endParaRPr lang="en-US"/>
        </a:p>
      </dgm:t>
    </dgm:pt>
    <dgm:pt modelId="{86A670AC-FF76-4079-9596-4A9A0BA8F624}" cxnId="{9495C5ED-BE5A-4DA0-A2FA-86EF1453FB47}" type="sibTrans">
      <dgm:prSet/>
      <dgm:spPr/>
      <dgm:t>
        <a:bodyPr/>
        <a:p>
          <a:endParaRPr lang="en-US"/>
        </a:p>
      </dgm:t>
    </dgm:pt>
    <dgm:pt modelId="{FB525A3D-67C1-409F-B27A-CD75D02395B7}">
      <dgm:prSet phldrT="[Text]" phldr="0" custT="1"/>
      <dgm:spPr>
        <a:solidFill>
          <a:schemeClr val="tx1">
            <a:lumMod val="50000"/>
            <a:lumOff val="50000"/>
          </a:schemeClr>
        </a:solidFill>
      </dgm:spPr>
      <dgm:t>
        <a:bodyPr vert="horz" wrap="square"/>
        <a:p>
          <a:pPr>
            <a:lnSpc>
              <a:spcPct val="100000"/>
            </a:lnSpc>
            <a:spcBef>
              <a:spcPct val="0"/>
            </a:spcBef>
            <a:spcAft>
              <a:spcPct val="35000"/>
            </a:spcAft>
          </a:pPr>
          <a:r>
            <a:rPr lang="en-US" sz="1400">
              <a:latin typeface="Microsoft YaHei" panose="020B0503020204020204" charset="-122"/>
              <a:ea typeface="Microsoft YaHei" panose="020B0503020204020204" charset="-122"/>
            </a:rPr>
            <a:t>Client A uploads the</a:t>
          </a:r>
          <a:r>
            <a:rPr lang="en-US" sz="1400">
              <a:latin typeface="Microsoft YaHei" panose="020B0503020204020204" charset="-122"/>
              <a:ea typeface="Microsoft YaHei" panose="020B0503020204020204" charset="-122"/>
            </a:rPr>
            <a:t> </a:t>
          </a:r>
          <a:r>
            <a:rPr lang="en-US" sz="1400">
              <a:latin typeface="Microsoft YaHei" panose="020B0503020204020204" charset="-122"/>
              <a:ea typeface="Microsoft YaHei" panose="020B0503020204020204" charset="-122"/>
            </a:rPr>
            <a:t>message</a:t>
          </a:r>
          <a:r>
            <a:rPr lang="en-US" sz="1400">
              <a:latin typeface="Microsoft YaHei" panose="020B0503020204020204" charset="-122"/>
              <a:ea typeface="Microsoft YaHei" panose="020B0503020204020204" charset="-122"/>
            </a:rPr>
            <a:t> </a:t>
          </a:r>
          <a:r>
            <a:rPr lang="en-US" sz="1400">
              <a:latin typeface="Microsoft YaHei" panose="020B0503020204020204" charset="-122"/>
              <a:ea typeface="Microsoft YaHei" panose="020B0503020204020204" charset="-122"/>
            </a:rPr>
            <a:t>to</a:t>
          </a:r>
          <a:r>
            <a:rPr lang="en-US" sz="1400">
              <a:latin typeface="Microsoft YaHei" panose="020B0503020204020204" charset="-122"/>
              <a:ea typeface="Microsoft YaHei" panose="020B0503020204020204" charset="-122"/>
            </a:rPr>
            <a:t> </a:t>
          </a:r>
          <a:r>
            <a:rPr lang="en-US" sz="1400">
              <a:latin typeface="Microsoft YaHei" panose="020B0503020204020204" charset="-122"/>
              <a:ea typeface="Microsoft YaHei" panose="020B0503020204020204" charset="-122"/>
            </a:rPr>
            <a:t>the FTP Server</a:t>
          </a:r>
          <a:r>
            <a:rPr lang="en-US" sz="1400">
              <a:latin typeface="Microsoft YaHei" panose="020B0503020204020204" charset="-122"/>
              <a:ea typeface="Microsoft YaHei" panose="020B0503020204020204" charset="-122"/>
            </a:rPr>
            <a:t/>
          </a:r>
          <a:endParaRPr lang="en-US" sz="1400">
            <a:latin typeface="Microsoft YaHei" panose="020B0503020204020204" charset="-122"/>
            <a:ea typeface="Microsoft YaHei" panose="020B0503020204020204" charset="-122"/>
          </a:endParaRPr>
        </a:p>
      </dgm:t>
    </dgm:pt>
    <dgm:pt modelId="{660A7B3A-2EEC-4431-855B-9AC956FBBA1C}" cxnId="{CBA6F4B1-DE83-448F-8F3C-21B43421C694}" type="parTrans">
      <dgm:prSet/>
      <dgm:spPr/>
      <dgm:t>
        <a:bodyPr/>
        <a:p>
          <a:endParaRPr lang="en-US"/>
        </a:p>
      </dgm:t>
    </dgm:pt>
    <dgm:pt modelId="{1AB63EA3-9EE1-467A-9AED-AA4865BC6583}" cxnId="{CBA6F4B1-DE83-448F-8F3C-21B43421C694}" type="sibTrans">
      <dgm:prSet/>
      <dgm:spPr/>
      <dgm:t>
        <a:bodyPr/>
        <a:p>
          <a:endParaRPr lang="en-US"/>
        </a:p>
      </dgm:t>
    </dgm:pt>
    <dgm:pt modelId="{EE1B1B8E-DEE5-4FD1-B749-CB4814574F41}">
      <dgm:prSet phldrT="[Text]" phldr="0" custT="1"/>
      <dgm:spPr>
        <a:solidFill>
          <a:schemeClr val="tx1">
            <a:lumMod val="50000"/>
            <a:lumOff val="50000"/>
          </a:schemeClr>
        </a:solidFill>
      </dgm:spPr>
      <dgm:t>
        <a:bodyPr vert="horz" wrap="square"/>
        <a:p>
          <a:pPr>
            <a:lnSpc>
              <a:spcPct val="100000"/>
            </a:lnSpc>
            <a:spcBef>
              <a:spcPct val="0"/>
            </a:spcBef>
            <a:spcAft>
              <a:spcPct val="35000"/>
            </a:spcAft>
          </a:pPr>
          <a:r>
            <a:rPr lang="en-US" altLang="en-US" sz="1200"/>
            <a:t>Client B </a:t>
          </a:r>
          <a:r>
            <a:rPr lang="en-US" altLang="en-US" sz="1400"/>
            <a:t>Downloads </a:t>
          </a:r>
          <a:r>
            <a:rPr lang="en-US" altLang="en-US" sz="1200"/>
            <a:t>message from the FTP Server</a:t>
          </a:r>
          <a:r>
            <a:rPr lang="en-US" altLang="en-US" sz="1200"/>
            <a:t/>
          </a:r>
          <a:endParaRPr lang="en-US" altLang="en-US" sz="1200"/>
        </a:p>
      </dgm:t>
    </dgm:pt>
    <dgm:pt modelId="{1BAC8C82-524D-4513-A1AC-09A55CE1C974}" cxnId="{7C7DE9BA-86C2-4444-883A-B1DDC20B1B22}" type="parTrans">
      <dgm:prSet/>
      <dgm:spPr/>
      <dgm:t>
        <a:bodyPr/>
        <a:p>
          <a:endParaRPr lang="en-US"/>
        </a:p>
      </dgm:t>
    </dgm:pt>
    <dgm:pt modelId="{10B193D5-E874-4D7F-9CA6-82825E87DC0E}" cxnId="{7C7DE9BA-86C2-4444-883A-B1DDC20B1B22}" type="sibTrans">
      <dgm:prSet/>
      <dgm:spPr/>
      <dgm:t>
        <a:bodyPr/>
        <a:p>
          <a:endParaRPr lang="en-US"/>
        </a:p>
      </dgm:t>
    </dgm:pt>
    <dgm:pt modelId="{49AFFE84-C0D6-4DE5-8A1B-BD56866F9594}">
      <dgm:prSet phldrT="[Text]" phldr="0" custT="0"/>
      <dgm:spPr/>
      <dgm:t>
        <a:bodyPr vert="horz" wrap="square"/>
        <a:p>
          <a:pPr>
            <a:lnSpc>
              <a:spcPct val="100000"/>
            </a:lnSpc>
            <a:spcBef>
              <a:spcPct val="0"/>
            </a:spcBef>
            <a:spcAft>
              <a:spcPct val="35000"/>
            </a:spcAft>
          </a:pPr>
          <a:r>
            <a:rPr lang="en-US">
              <a:sym typeface="+mn-ea"/>
            </a:rPr>
            <a:t>Client B types a </a:t>
          </a:r>
          <a:r>
            <a:rPr lang="en-US" altLang="en-US"/>
            <a:t>message</a:t>
          </a:r>
          <a:r>
            <a:rPr lang="en-US" altLang="en-US"/>
            <a:t/>
          </a:r>
          <a:endParaRPr lang="en-US" altLang="en-US"/>
        </a:p>
      </dgm:t>
    </dgm:pt>
    <dgm:pt modelId="{3C9FBC6B-50ED-4757-8C5B-89419165D5AF}" cxnId="{BFD2A90C-47D7-4AC4-BFF6-CBE1BE16E860}" type="parTrans">
      <dgm:prSet/>
      <dgm:spPr/>
      <dgm:t>
        <a:bodyPr/>
        <a:p>
          <a:endParaRPr lang="en-US"/>
        </a:p>
      </dgm:t>
    </dgm:pt>
    <dgm:pt modelId="{ADF435FD-1EEC-4111-B0E5-FE82C78372EF}" cxnId="{BFD2A90C-47D7-4AC4-BFF6-CBE1BE16E860}" type="sibTrans">
      <dgm:prSet/>
      <dgm:spPr/>
      <dgm:t>
        <a:bodyPr/>
        <a:p>
          <a:endParaRPr lang="en-US"/>
        </a:p>
      </dgm:t>
    </dgm:pt>
    <dgm:pt modelId="{19218FDC-B00F-4BB9-A0D7-A816B0A24887}">
      <dgm:prSet phldrT="[Text]" phldr="0" custT="1"/>
      <dgm:spPr>
        <a:solidFill>
          <a:schemeClr val="tx1">
            <a:lumMod val="50000"/>
            <a:lumOff val="50000"/>
          </a:schemeClr>
        </a:solidFill>
      </dgm:spPr>
      <dgm:t>
        <a:bodyPr vert="horz" wrap="square"/>
        <a:p>
          <a:pPr>
            <a:lnSpc>
              <a:spcPct val="100000"/>
            </a:lnSpc>
            <a:spcBef>
              <a:spcPct val="0"/>
            </a:spcBef>
            <a:spcAft>
              <a:spcPct val="35000"/>
            </a:spcAft>
          </a:pPr>
          <a:r>
            <a:rPr sz="1300">
              <a:sym typeface="+mn-ea"/>
            </a:rPr>
            <a:t>C</a:t>
          </a:r>
          <a:r>
            <a:rPr lang="en-US" sz="1300">
              <a:sym typeface="+mn-ea"/>
            </a:rPr>
            <a:t>lient B uploads the reply message to the FTP Server</a:t>
          </a:r>
          <a:r>
            <a:rPr lang="en-US" sz="1300">
              <a:sym typeface="+mn-ea"/>
            </a:rPr>
            <a:t/>
          </a:r>
          <a:endParaRPr lang="en-US" sz="1300">
            <a:sym typeface="+mn-ea"/>
          </a:endParaRPr>
        </a:p>
      </dgm:t>
    </dgm:pt>
    <dgm:pt modelId="{372FFAD0-285E-433E-8567-06E0DDFA82F0}" cxnId="{CC41D739-F6B8-4325-9F47-6CEA55784824}" type="parTrans">
      <dgm:prSet/>
      <dgm:spPr/>
      <dgm:t>
        <a:bodyPr/>
        <a:p>
          <a:endParaRPr lang="en-US"/>
        </a:p>
      </dgm:t>
    </dgm:pt>
    <dgm:pt modelId="{C51FBF8F-5459-4C3F-AA37-75120837A52D}" cxnId="{CC41D739-F6B8-4325-9F47-6CEA55784824}" type="sibTrans">
      <dgm:prSet/>
      <dgm:spPr/>
      <dgm:t>
        <a:bodyPr/>
        <a:p>
          <a:endParaRPr lang="en-US"/>
        </a:p>
      </dgm:t>
    </dgm:pt>
    <dgm:pt modelId="{5F2E48A2-46C8-4FEB-8079-81D83B475B05}">
      <dgm:prSet phldr="0" custT="1"/>
      <dgm:spPr>
        <a:solidFill>
          <a:schemeClr val="tx1">
            <a:lumMod val="50000"/>
            <a:lumOff val="50000"/>
          </a:schemeClr>
        </a:solidFill>
      </dgm:spPr>
      <dgm:t>
        <a:bodyPr vert="horz" wrap="square"/>
        <a:p>
          <a:pPr>
            <a:lnSpc>
              <a:spcPct val="100000"/>
            </a:lnSpc>
            <a:spcBef>
              <a:spcPct val="0"/>
            </a:spcBef>
            <a:spcAft>
              <a:spcPct val="35000"/>
            </a:spcAft>
          </a:pPr>
          <a:r>
            <a:rPr sz="1400">
              <a:sym typeface="+mn-ea"/>
            </a:rPr>
            <a:t>C</a:t>
          </a:r>
          <a:r>
            <a:rPr lang="en-US" altLang="en-US" sz="1400">
              <a:sym typeface="+mn-ea"/>
            </a:rPr>
            <a:t>lient A Downloads message from the FTP Server</a:t>
          </a:r>
          <a:r>
            <a:rPr lang="en-US" altLang="en-US" sz="1400">
              <a:sym typeface="+mn-ea"/>
            </a:rPr>
            <a:t/>
          </a:r>
          <a:endParaRPr lang="en-US" altLang="en-US" sz="1400">
            <a:sym typeface="+mn-ea"/>
          </a:endParaRPr>
        </a:p>
      </dgm:t>
    </dgm:pt>
    <dgm:pt modelId="{4CF23FF8-7409-484E-A36F-4C6CC09BBC6D}" cxnId="{EBF3381C-CDFB-415A-BE2F-7DC2450F04E6}" type="parTrans">
      <dgm:prSet/>
      <dgm:spPr/>
    </dgm:pt>
    <dgm:pt modelId="{BC821C9B-9FB1-44E4-9B4A-AE391B655E37}" cxnId="{EBF3381C-CDFB-415A-BE2F-7DC2450F04E6}" type="sibTrans">
      <dgm:prSet/>
      <dgm:spPr/>
    </dgm:pt>
    <dgm:pt modelId="{8F483899-E69D-49E9-AFAD-248DEA394C36}" type="pres">
      <dgm:prSet presAssocID="{61675814-F93D-49AF-BE9D-D9E10357E89C}" presName="cycle" presStyleCnt="0">
        <dgm:presLayoutVars>
          <dgm:dir/>
          <dgm:resizeHandles val="exact"/>
        </dgm:presLayoutVars>
      </dgm:prSet>
      <dgm:spPr/>
    </dgm:pt>
    <dgm:pt modelId="{0C7D36D6-1AA8-4919-A9DE-300F574FC64F}" type="pres">
      <dgm:prSet presAssocID="{19128D80-C668-4E2D-ADE5-4D8C214258F7}" presName="node" presStyleLbl="node1" presStyleIdx="0" presStyleCnt="6">
        <dgm:presLayoutVars>
          <dgm:bulletEnabled val="1"/>
        </dgm:presLayoutVars>
      </dgm:prSet>
      <dgm:spPr/>
    </dgm:pt>
    <dgm:pt modelId="{58F22B57-56EB-4243-8851-A6A77508F8BD}" type="pres">
      <dgm:prSet presAssocID="{19128D80-C668-4E2D-ADE5-4D8C214258F7}" presName="spNode" presStyleCnt="0"/>
      <dgm:spPr/>
    </dgm:pt>
    <dgm:pt modelId="{B26405B1-C8B6-441C-A596-CEB708F554F8}" type="pres">
      <dgm:prSet presAssocID="{86A670AC-FF76-4079-9596-4A9A0BA8F624}" presName="sibTrans" presStyleLbl="sibTrans1D1" presStyleIdx="0" presStyleCnt="6"/>
      <dgm:spPr/>
    </dgm:pt>
    <dgm:pt modelId="{0901F604-F9EC-4D76-A6ED-BA32352C5A98}" type="pres">
      <dgm:prSet presAssocID="{FB525A3D-67C1-409F-B27A-CD75D02395B7}" presName="node" presStyleLbl="node1" presStyleIdx="1" presStyleCnt="6">
        <dgm:presLayoutVars>
          <dgm:bulletEnabled val="1"/>
        </dgm:presLayoutVars>
      </dgm:prSet>
      <dgm:spPr/>
    </dgm:pt>
    <dgm:pt modelId="{4E4C2EC6-DF0C-4115-81BC-B86C27D576E6}" type="pres">
      <dgm:prSet presAssocID="{FB525A3D-67C1-409F-B27A-CD75D02395B7}" presName="spNode" presStyleCnt="0"/>
      <dgm:spPr/>
    </dgm:pt>
    <dgm:pt modelId="{5B35789F-BCCE-4841-A4C6-2EA3CF032314}" type="pres">
      <dgm:prSet presAssocID="{1AB63EA3-9EE1-467A-9AED-AA4865BC6583}" presName="sibTrans" presStyleLbl="sibTrans1D1" presStyleIdx="1" presStyleCnt="6"/>
      <dgm:spPr/>
    </dgm:pt>
    <dgm:pt modelId="{9FF9719A-5B20-43F5-A219-1ADBC30214AD}" type="pres">
      <dgm:prSet presAssocID="{EE1B1B8E-DEE5-4FD1-B749-CB4814574F41}" presName="node" presStyleLbl="node1" presStyleIdx="2" presStyleCnt="6">
        <dgm:presLayoutVars>
          <dgm:bulletEnabled val="1"/>
        </dgm:presLayoutVars>
      </dgm:prSet>
      <dgm:spPr/>
    </dgm:pt>
    <dgm:pt modelId="{933AA802-040A-4E70-BCF0-622F53BD9066}" type="pres">
      <dgm:prSet presAssocID="{EE1B1B8E-DEE5-4FD1-B749-CB4814574F41}" presName="spNode" presStyleCnt="0"/>
      <dgm:spPr/>
    </dgm:pt>
    <dgm:pt modelId="{E94B8C4B-C366-48BF-8697-8C04F1C25124}" type="pres">
      <dgm:prSet presAssocID="{10B193D5-E874-4D7F-9CA6-82825E87DC0E}" presName="sibTrans" presStyleLbl="sibTrans1D1" presStyleIdx="2" presStyleCnt="6"/>
      <dgm:spPr/>
    </dgm:pt>
    <dgm:pt modelId="{D3EADAB4-143F-49B5-8573-A79F4FA79E2C}" type="pres">
      <dgm:prSet presAssocID="{49AFFE84-C0D6-4DE5-8A1B-BD56866F9594}" presName="node" presStyleLbl="node1" presStyleIdx="3" presStyleCnt="6">
        <dgm:presLayoutVars>
          <dgm:bulletEnabled val="1"/>
        </dgm:presLayoutVars>
      </dgm:prSet>
      <dgm:spPr/>
    </dgm:pt>
    <dgm:pt modelId="{BCBF9FA4-7A1B-460F-AE30-22FC02697592}" type="pres">
      <dgm:prSet presAssocID="{49AFFE84-C0D6-4DE5-8A1B-BD56866F9594}" presName="spNode" presStyleCnt="0"/>
      <dgm:spPr/>
    </dgm:pt>
    <dgm:pt modelId="{D2FB9AAA-02FE-4314-A268-2F3D8E512C5C}" type="pres">
      <dgm:prSet presAssocID="{ADF435FD-1EEC-4111-B0E5-FE82C78372EF}" presName="sibTrans" presStyleLbl="sibTrans1D1" presStyleIdx="3" presStyleCnt="6"/>
      <dgm:spPr/>
    </dgm:pt>
    <dgm:pt modelId="{1BF2D754-8785-43BB-B33B-E8E13EA73F30}" type="pres">
      <dgm:prSet presAssocID="{19218FDC-B00F-4BB9-A0D7-A816B0A24887}" presName="node" presStyleLbl="node1" presStyleIdx="4" presStyleCnt="6">
        <dgm:presLayoutVars>
          <dgm:bulletEnabled val="1"/>
        </dgm:presLayoutVars>
      </dgm:prSet>
      <dgm:spPr/>
    </dgm:pt>
    <dgm:pt modelId="{EB9B5FEF-A577-4F93-AF7E-A5B8942027E5}" type="pres">
      <dgm:prSet presAssocID="{19218FDC-B00F-4BB9-A0D7-A816B0A24887}" presName="spNode" presStyleCnt="0"/>
      <dgm:spPr/>
    </dgm:pt>
    <dgm:pt modelId="{45BBA764-932B-4A31-9891-7437D938FD2C}" type="pres">
      <dgm:prSet presAssocID="{C51FBF8F-5459-4C3F-AA37-75120837A52D}" presName="sibTrans" presStyleLbl="sibTrans1D1" presStyleIdx="4" presStyleCnt="6"/>
      <dgm:spPr/>
    </dgm:pt>
    <dgm:pt modelId="{3AC315D0-3C83-4084-BE33-345E78734EB2}" type="pres">
      <dgm:prSet presAssocID="{5F2E48A2-46C8-4FEB-8079-81D83B475B05}" presName="node" presStyleLbl="node1" presStyleIdx="5" presStyleCnt="6">
        <dgm:presLayoutVars>
          <dgm:bulletEnabled val="1"/>
        </dgm:presLayoutVars>
      </dgm:prSet>
      <dgm:spPr/>
    </dgm:pt>
    <dgm:pt modelId="{601C6C93-8772-46A3-B9AC-063B57C68E70}" type="pres">
      <dgm:prSet presAssocID="{5F2E48A2-46C8-4FEB-8079-81D83B475B05}" presName="spNode" presStyleCnt="0"/>
      <dgm:spPr/>
    </dgm:pt>
    <dgm:pt modelId="{D00F99D7-7D4F-4DE1-938E-73959051A970}" type="pres">
      <dgm:prSet presAssocID="{BC821C9B-9FB1-44E4-9B4A-AE391B655E37}" presName="sibTrans" presStyleLbl="sibTrans1D1" presStyleIdx="5" presStyleCnt="6"/>
      <dgm:spPr/>
    </dgm:pt>
  </dgm:ptLst>
  <dgm:cxnLst>
    <dgm:cxn modelId="{9495C5ED-BE5A-4DA0-A2FA-86EF1453FB47}" srcId="{61675814-F93D-49AF-BE9D-D9E10357E89C}" destId="{19128D80-C668-4E2D-ADE5-4D8C214258F7}" srcOrd="0" destOrd="0" parTransId="{DE0F27FA-73BB-4EA4-9778-8D9EBA925AF5}" sibTransId="{86A670AC-FF76-4079-9596-4A9A0BA8F624}"/>
    <dgm:cxn modelId="{CBA6F4B1-DE83-448F-8F3C-21B43421C694}" srcId="{61675814-F93D-49AF-BE9D-D9E10357E89C}" destId="{FB525A3D-67C1-409F-B27A-CD75D02395B7}" srcOrd="1" destOrd="0" parTransId="{660A7B3A-2EEC-4431-855B-9AC956FBBA1C}" sibTransId="{1AB63EA3-9EE1-467A-9AED-AA4865BC6583}"/>
    <dgm:cxn modelId="{7C7DE9BA-86C2-4444-883A-B1DDC20B1B22}" srcId="{61675814-F93D-49AF-BE9D-D9E10357E89C}" destId="{EE1B1B8E-DEE5-4FD1-B749-CB4814574F41}" srcOrd="2" destOrd="0" parTransId="{1BAC8C82-524D-4513-A1AC-09A55CE1C974}" sibTransId="{10B193D5-E874-4D7F-9CA6-82825E87DC0E}"/>
    <dgm:cxn modelId="{BFD2A90C-47D7-4AC4-BFF6-CBE1BE16E860}" srcId="{61675814-F93D-49AF-BE9D-D9E10357E89C}" destId="{49AFFE84-C0D6-4DE5-8A1B-BD56866F9594}" srcOrd="3" destOrd="0" parTransId="{3C9FBC6B-50ED-4757-8C5B-89419165D5AF}" sibTransId="{ADF435FD-1EEC-4111-B0E5-FE82C78372EF}"/>
    <dgm:cxn modelId="{CC41D739-F6B8-4325-9F47-6CEA55784824}" srcId="{61675814-F93D-49AF-BE9D-D9E10357E89C}" destId="{19218FDC-B00F-4BB9-A0D7-A816B0A24887}" srcOrd="4" destOrd="0" parTransId="{372FFAD0-285E-433E-8567-06E0DDFA82F0}" sibTransId="{C51FBF8F-5459-4C3F-AA37-75120837A52D}"/>
    <dgm:cxn modelId="{EBF3381C-CDFB-415A-BE2F-7DC2450F04E6}" srcId="{61675814-F93D-49AF-BE9D-D9E10357E89C}" destId="{5F2E48A2-46C8-4FEB-8079-81D83B475B05}" srcOrd="5" destOrd="0" parTransId="{4CF23FF8-7409-484E-A36F-4C6CC09BBC6D}" sibTransId="{BC821C9B-9FB1-44E4-9B4A-AE391B655E37}"/>
    <dgm:cxn modelId="{64FA7EF2-5C84-4046-9924-66A607A1DCB7}" type="presOf" srcId="{61675814-F93D-49AF-BE9D-D9E10357E89C}" destId="{8F483899-E69D-49E9-AFAD-248DEA394C36}" srcOrd="0" destOrd="0" presId="urn:microsoft.com/office/officeart/2005/8/layout/cycle5"/>
    <dgm:cxn modelId="{0F048D4F-46FC-4E6B-AB9E-3AFC3DB26D4E}" type="presParOf" srcId="{8F483899-E69D-49E9-AFAD-248DEA394C36}" destId="{0C7D36D6-1AA8-4919-A9DE-300F574FC64F}" srcOrd="0" destOrd="0" presId="urn:microsoft.com/office/officeart/2005/8/layout/cycle5"/>
    <dgm:cxn modelId="{9EF9210C-0C2F-4C96-98C8-7CBBE0131BCE}" type="presOf" srcId="{19128D80-C668-4E2D-ADE5-4D8C214258F7}" destId="{0C7D36D6-1AA8-4919-A9DE-300F574FC64F}" srcOrd="0" destOrd="0" presId="urn:microsoft.com/office/officeart/2005/8/layout/cycle5"/>
    <dgm:cxn modelId="{94D8180E-2D52-49A1-997D-9504D67D4116}" type="presParOf" srcId="{8F483899-E69D-49E9-AFAD-248DEA394C36}" destId="{58F22B57-56EB-4243-8851-A6A77508F8BD}" srcOrd="1" destOrd="0" presId="urn:microsoft.com/office/officeart/2005/8/layout/cycle5"/>
    <dgm:cxn modelId="{37F41CF6-0D1D-4676-ADBE-48B90E8A5F4C}" type="presParOf" srcId="{8F483899-E69D-49E9-AFAD-248DEA394C36}" destId="{B26405B1-C8B6-441C-A596-CEB708F554F8}" srcOrd="2" destOrd="0" presId="urn:microsoft.com/office/officeart/2005/8/layout/cycle5"/>
    <dgm:cxn modelId="{04B594EE-4239-4A5E-B73E-198A17355DF6}" type="presOf" srcId="{86A670AC-FF76-4079-9596-4A9A0BA8F624}" destId="{B26405B1-C8B6-441C-A596-CEB708F554F8}" srcOrd="0" destOrd="0" presId="urn:microsoft.com/office/officeart/2005/8/layout/cycle5"/>
    <dgm:cxn modelId="{B7AC9AD8-8373-48EA-9872-0AC41D9BC2E3}" type="presParOf" srcId="{8F483899-E69D-49E9-AFAD-248DEA394C36}" destId="{0901F604-F9EC-4D76-A6ED-BA32352C5A98}" srcOrd="3" destOrd="0" presId="urn:microsoft.com/office/officeart/2005/8/layout/cycle5"/>
    <dgm:cxn modelId="{7B94E932-0000-46A2-A47A-B244039B84D8}" type="presOf" srcId="{FB525A3D-67C1-409F-B27A-CD75D02395B7}" destId="{0901F604-F9EC-4D76-A6ED-BA32352C5A98}" srcOrd="0" destOrd="0" presId="urn:microsoft.com/office/officeart/2005/8/layout/cycle5"/>
    <dgm:cxn modelId="{B652534A-D530-4824-A340-BA786C9C2577}" type="presParOf" srcId="{8F483899-E69D-49E9-AFAD-248DEA394C36}" destId="{4E4C2EC6-DF0C-4115-81BC-B86C27D576E6}" srcOrd="4" destOrd="0" presId="urn:microsoft.com/office/officeart/2005/8/layout/cycle5"/>
    <dgm:cxn modelId="{7AEB704F-5950-4E60-A339-11A9CA719E04}" type="presParOf" srcId="{8F483899-E69D-49E9-AFAD-248DEA394C36}" destId="{5B35789F-BCCE-4841-A4C6-2EA3CF032314}" srcOrd="5" destOrd="0" presId="urn:microsoft.com/office/officeart/2005/8/layout/cycle5"/>
    <dgm:cxn modelId="{0EF8FD1F-AE4D-41CF-8795-4BB5CC682E33}" type="presOf" srcId="{1AB63EA3-9EE1-467A-9AED-AA4865BC6583}" destId="{5B35789F-BCCE-4841-A4C6-2EA3CF032314}" srcOrd="0" destOrd="0" presId="urn:microsoft.com/office/officeart/2005/8/layout/cycle5"/>
    <dgm:cxn modelId="{E1A95C60-6C5E-4432-8A11-4D5FAC5F46FB}" type="presParOf" srcId="{8F483899-E69D-49E9-AFAD-248DEA394C36}" destId="{9FF9719A-5B20-43F5-A219-1ADBC30214AD}" srcOrd="6" destOrd="0" presId="urn:microsoft.com/office/officeart/2005/8/layout/cycle5"/>
    <dgm:cxn modelId="{1E850388-376A-47D4-AABB-9F89081A71AC}" type="presOf" srcId="{EE1B1B8E-DEE5-4FD1-B749-CB4814574F41}" destId="{9FF9719A-5B20-43F5-A219-1ADBC30214AD}" srcOrd="0" destOrd="0" presId="urn:microsoft.com/office/officeart/2005/8/layout/cycle5"/>
    <dgm:cxn modelId="{4D998D6A-2254-4B0C-B7EB-76003D772110}" type="presParOf" srcId="{8F483899-E69D-49E9-AFAD-248DEA394C36}" destId="{933AA802-040A-4E70-BCF0-622F53BD9066}" srcOrd="7" destOrd="0" presId="urn:microsoft.com/office/officeart/2005/8/layout/cycle5"/>
    <dgm:cxn modelId="{96DBB4A5-4516-41BB-A2A5-2CCF0167AB6C}" type="presParOf" srcId="{8F483899-E69D-49E9-AFAD-248DEA394C36}" destId="{E94B8C4B-C366-48BF-8697-8C04F1C25124}" srcOrd="8" destOrd="0" presId="urn:microsoft.com/office/officeart/2005/8/layout/cycle5"/>
    <dgm:cxn modelId="{7110932D-C7C3-4BDA-A5A0-DC86F3109811}" type="presOf" srcId="{10B193D5-E874-4D7F-9CA6-82825E87DC0E}" destId="{E94B8C4B-C366-48BF-8697-8C04F1C25124}" srcOrd="0" destOrd="0" presId="urn:microsoft.com/office/officeart/2005/8/layout/cycle5"/>
    <dgm:cxn modelId="{DCDECFA2-F208-44E5-9DE1-7A5131400820}" type="presParOf" srcId="{8F483899-E69D-49E9-AFAD-248DEA394C36}" destId="{D3EADAB4-143F-49B5-8573-A79F4FA79E2C}" srcOrd="9" destOrd="0" presId="urn:microsoft.com/office/officeart/2005/8/layout/cycle5"/>
    <dgm:cxn modelId="{314EA2FC-B95C-40F9-9B7C-21085CD55455}" type="presOf" srcId="{49AFFE84-C0D6-4DE5-8A1B-BD56866F9594}" destId="{D3EADAB4-143F-49B5-8573-A79F4FA79E2C}" srcOrd="0" destOrd="0" presId="urn:microsoft.com/office/officeart/2005/8/layout/cycle5"/>
    <dgm:cxn modelId="{D1EBF446-C1DB-442A-AC0A-752647919335}" type="presParOf" srcId="{8F483899-E69D-49E9-AFAD-248DEA394C36}" destId="{BCBF9FA4-7A1B-460F-AE30-22FC02697592}" srcOrd="10" destOrd="0" presId="urn:microsoft.com/office/officeart/2005/8/layout/cycle5"/>
    <dgm:cxn modelId="{3E4ED1A3-821F-4009-9A5B-2CADD20513F3}" type="presParOf" srcId="{8F483899-E69D-49E9-AFAD-248DEA394C36}" destId="{D2FB9AAA-02FE-4314-A268-2F3D8E512C5C}" srcOrd="11" destOrd="0" presId="urn:microsoft.com/office/officeart/2005/8/layout/cycle5"/>
    <dgm:cxn modelId="{9F41263D-EFD7-495A-873E-CCBEF54BE7D1}" type="presOf" srcId="{ADF435FD-1EEC-4111-B0E5-FE82C78372EF}" destId="{D2FB9AAA-02FE-4314-A268-2F3D8E512C5C}" srcOrd="0" destOrd="0" presId="urn:microsoft.com/office/officeart/2005/8/layout/cycle5"/>
    <dgm:cxn modelId="{59571BF5-88A4-4AE4-8ACC-87DA13456145}" type="presParOf" srcId="{8F483899-E69D-49E9-AFAD-248DEA394C36}" destId="{1BF2D754-8785-43BB-B33B-E8E13EA73F30}" srcOrd="12" destOrd="0" presId="urn:microsoft.com/office/officeart/2005/8/layout/cycle5"/>
    <dgm:cxn modelId="{56FF083D-883D-4644-8E52-8570F1E75E1B}" type="presOf" srcId="{19218FDC-B00F-4BB9-A0D7-A816B0A24887}" destId="{1BF2D754-8785-43BB-B33B-E8E13EA73F30}" srcOrd="0" destOrd="0" presId="urn:microsoft.com/office/officeart/2005/8/layout/cycle5"/>
    <dgm:cxn modelId="{0510BC00-9C0D-4F5B-BB54-01D9080A4C8C}" type="presParOf" srcId="{8F483899-E69D-49E9-AFAD-248DEA394C36}" destId="{EB9B5FEF-A577-4F93-AF7E-A5B8942027E5}" srcOrd="13" destOrd="0" presId="urn:microsoft.com/office/officeart/2005/8/layout/cycle5"/>
    <dgm:cxn modelId="{8439326F-BB38-40A6-BE56-6B838B8C75C5}" type="presParOf" srcId="{8F483899-E69D-49E9-AFAD-248DEA394C36}" destId="{45BBA764-932B-4A31-9891-7437D938FD2C}" srcOrd="14" destOrd="0" presId="urn:microsoft.com/office/officeart/2005/8/layout/cycle5"/>
    <dgm:cxn modelId="{08CF0286-9FC3-4A9B-9164-3E45D6124925}" type="presOf" srcId="{C51FBF8F-5459-4C3F-AA37-75120837A52D}" destId="{45BBA764-932B-4A31-9891-7437D938FD2C}" srcOrd="0" destOrd="0" presId="urn:microsoft.com/office/officeart/2005/8/layout/cycle5"/>
    <dgm:cxn modelId="{BC88D627-2EA6-40C3-95B2-A2AB7226B409}" type="presParOf" srcId="{8F483899-E69D-49E9-AFAD-248DEA394C36}" destId="{3AC315D0-3C83-4084-BE33-345E78734EB2}" srcOrd="15" destOrd="0" presId="urn:microsoft.com/office/officeart/2005/8/layout/cycle5"/>
    <dgm:cxn modelId="{2A9F849E-3A6B-46B4-BF24-882BDDB02237}" type="presOf" srcId="{5F2E48A2-46C8-4FEB-8079-81D83B475B05}" destId="{3AC315D0-3C83-4084-BE33-345E78734EB2}" srcOrd="0" destOrd="0" presId="urn:microsoft.com/office/officeart/2005/8/layout/cycle5"/>
    <dgm:cxn modelId="{7F1A0504-7405-4E68-BBCB-026D46EA6745}" type="presParOf" srcId="{8F483899-E69D-49E9-AFAD-248DEA394C36}" destId="{601C6C93-8772-46A3-B9AC-063B57C68E70}" srcOrd="16" destOrd="0" presId="urn:microsoft.com/office/officeart/2005/8/layout/cycle5"/>
    <dgm:cxn modelId="{E3727F26-56C2-4AC8-8189-686F6F8C98F3}" type="presParOf" srcId="{8F483899-E69D-49E9-AFAD-248DEA394C36}" destId="{D00F99D7-7D4F-4DE1-938E-73959051A970}" srcOrd="17" destOrd="0" presId="urn:microsoft.com/office/officeart/2005/8/layout/cycle5"/>
    <dgm:cxn modelId="{47CDDA4A-1728-4A0D-A995-461F1D316733}" type="presOf" srcId="{BC821C9B-9FB1-44E4-9B4A-AE391B655E37}" destId="{D00F99D7-7D4F-4DE1-938E-73959051A970}" srcOrd="0" destOrd="0" presId="urn:microsoft.com/office/officeart/2005/8/layout/cycle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346440" cy="5620385"/>
        <a:chOff x="0" y="0"/>
        <a:chExt cx="8346440" cy="5620385"/>
      </a:xfrm>
    </dsp:grpSpPr>
    <dsp:sp modelId="{0C7D36D6-1AA8-4919-A9DE-300F574FC64F}">
      <dsp:nvSpPr>
        <dsp:cNvPr id="3" name="Rounded Rectangle 2"/>
        <dsp:cNvSpPr/>
      </dsp:nvSpPr>
      <dsp:spPr bwMode="white">
        <a:xfrm>
          <a:off x="3415665" y="0"/>
          <a:ext cx="1515110" cy="984822"/>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68580" tIns="68580" rIns="68580" bIns="6858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sz="1800"/>
            <a:t>Client A types a </a:t>
          </a:r>
          <a:r>
            <a:rPr lang="en-US" altLang="en-US" sz="1800"/>
            <a:t>message</a:t>
          </a:r>
          <a:endParaRPr lang="en-US" altLang="en-US" sz="1800"/>
        </a:p>
      </dsp:txBody>
      <dsp:txXfrm>
        <a:off x="3415665" y="0"/>
        <a:ext cx="1515110" cy="984822"/>
      </dsp:txXfrm>
    </dsp:sp>
    <dsp:sp modelId="{B26405B1-C8B6-441C-A596-CEB708F554F8}">
      <dsp:nvSpPr>
        <dsp:cNvPr id="4" name="Arc 3"/>
        <dsp:cNvSpPr/>
      </dsp:nvSpPr>
      <dsp:spPr bwMode="white">
        <a:xfrm>
          <a:off x="1855438" y="492411"/>
          <a:ext cx="4635563" cy="4635563"/>
        </a:xfrm>
        <a:prstGeom prst="arc">
          <a:avLst>
            <a:gd name="adj1" fmla="val 17650499"/>
            <a:gd name="adj2" fmla="val 18568070"/>
          </a:avLst>
        </a:prstGeom>
        <a:ln>
          <a:tailEnd type="arrow" w="lg" len="med"/>
        </a:ln>
      </dsp:spPr>
      <dsp:style>
        <a:lnRef idx="1">
          <a:schemeClr val="accent1"/>
        </a:lnRef>
        <a:fillRef idx="0">
          <a:schemeClr val="accent1"/>
        </a:fillRef>
        <a:effectRef idx="0">
          <a:scrgbClr r="0" g="0" b="0"/>
        </a:effectRef>
        <a:fontRef idx="minor"/>
      </dsp:style>
      <dsp:txXfrm>
        <a:off x="1855438" y="492411"/>
        <a:ext cx="4635563" cy="4635563"/>
      </dsp:txXfrm>
    </dsp:sp>
    <dsp:sp modelId="{0901F604-F9EC-4D76-A6ED-BA32352C5A98}">
      <dsp:nvSpPr>
        <dsp:cNvPr id="5" name="Rounded Rectangle 4"/>
        <dsp:cNvSpPr/>
      </dsp:nvSpPr>
      <dsp:spPr bwMode="white">
        <a:xfrm>
          <a:off x="5422923" y="1158891"/>
          <a:ext cx="1515110" cy="984822"/>
        </a:xfrm>
        <a:prstGeom prst="roundRect">
          <a:avLst/>
        </a:prstGeom>
        <a:solidFill>
          <a:schemeClr val="tx1">
            <a:lumMod val="50000"/>
            <a:lumOff val="50000"/>
          </a:schemeClr>
        </a:solidFill>
      </dsp:spPr>
      <dsp:style>
        <a:lnRef idx="2">
          <a:schemeClr val="lt1"/>
        </a:lnRef>
        <a:fillRef idx="1">
          <a:schemeClr val="accent1"/>
        </a:fillRef>
        <a:effectRef idx="0">
          <a:scrgbClr r="0" g="0" b="0"/>
        </a:effectRef>
        <a:fontRef idx="minor">
          <a:schemeClr val="lt1"/>
        </a:fontRef>
      </dsp:style>
      <dsp:txBody>
        <a:bodyPr vert="horz" wrap="square" lIns="53340" tIns="53340" rIns="53340" bIns="5334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sz="1400">
              <a:latin typeface="Microsoft YaHei" panose="020B0503020204020204" charset="-122"/>
              <a:ea typeface="Microsoft YaHei" panose="020B0503020204020204" charset="-122"/>
            </a:rPr>
            <a:t>Client A uploads the</a:t>
          </a:r>
          <a:r>
            <a:rPr lang="en-US" sz="1400">
              <a:latin typeface="Microsoft YaHei" panose="020B0503020204020204" charset="-122"/>
              <a:ea typeface="Microsoft YaHei" panose="020B0503020204020204" charset="-122"/>
            </a:rPr>
            <a:t> </a:t>
          </a:r>
          <a:r>
            <a:rPr lang="en-US" sz="1400">
              <a:latin typeface="Microsoft YaHei" panose="020B0503020204020204" charset="-122"/>
              <a:ea typeface="Microsoft YaHei" panose="020B0503020204020204" charset="-122"/>
            </a:rPr>
            <a:t>message</a:t>
          </a:r>
          <a:r>
            <a:rPr lang="en-US" sz="1400">
              <a:latin typeface="Microsoft YaHei" panose="020B0503020204020204" charset="-122"/>
              <a:ea typeface="Microsoft YaHei" panose="020B0503020204020204" charset="-122"/>
            </a:rPr>
            <a:t> </a:t>
          </a:r>
          <a:r>
            <a:rPr lang="en-US" sz="1400">
              <a:latin typeface="Microsoft YaHei" panose="020B0503020204020204" charset="-122"/>
              <a:ea typeface="Microsoft YaHei" panose="020B0503020204020204" charset="-122"/>
            </a:rPr>
            <a:t>to</a:t>
          </a:r>
          <a:r>
            <a:rPr lang="en-US" sz="1400">
              <a:latin typeface="Microsoft YaHei" panose="020B0503020204020204" charset="-122"/>
              <a:ea typeface="Microsoft YaHei" panose="020B0503020204020204" charset="-122"/>
            </a:rPr>
            <a:t> </a:t>
          </a:r>
          <a:r>
            <a:rPr lang="en-US" sz="1400">
              <a:latin typeface="Microsoft YaHei" panose="020B0503020204020204" charset="-122"/>
              <a:ea typeface="Microsoft YaHei" panose="020B0503020204020204" charset="-122"/>
            </a:rPr>
            <a:t>the FTP Server</a:t>
          </a:r>
          <a:endParaRPr lang="en-US" sz="1400">
            <a:latin typeface="Microsoft YaHei" panose="020B0503020204020204" charset="-122"/>
            <a:ea typeface="Microsoft YaHei" panose="020B0503020204020204" charset="-122"/>
          </a:endParaRPr>
        </a:p>
      </dsp:txBody>
      <dsp:txXfrm>
        <a:off x="5422923" y="1158891"/>
        <a:ext cx="1515110" cy="984822"/>
      </dsp:txXfrm>
    </dsp:sp>
    <dsp:sp modelId="{5B35789F-BCCE-4841-A4C6-2EA3CF032314}">
      <dsp:nvSpPr>
        <dsp:cNvPr id="6" name="Arc 5"/>
        <dsp:cNvSpPr/>
      </dsp:nvSpPr>
      <dsp:spPr bwMode="white">
        <a:xfrm>
          <a:off x="1855438" y="492411"/>
          <a:ext cx="4635563" cy="4635563"/>
        </a:xfrm>
        <a:prstGeom prst="arc">
          <a:avLst>
            <a:gd name="adj1" fmla="val 20998390"/>
            <a:gd name="adj2" fmla="val 601609"/>
          </a:avLst>
        </a:prstGeom>
        <a:ln>
          <a:tailEnd type="arrow" w="lg" len="med"/>
        </a:ln>
      </dsp:spPr>
      <dsp:style>
        <a:lnRef idx="1">
          <a:schemeClr val="accent1"/>
        </a:lnRef>
        <a:fillRef idx="0">
          <a:schemeClr val="accent1"/>
        </a:fillRef>
        <a:effectRef idx="0">
          <a:scrgbClr r="0" g="0" b="0"/>
        </a:effectRef>
        <a:fontRef idx="minor"/>
      </dsp:style>
      <dsp:txXfrm>
        <a:off x="1855438" y="492411"/>
        <a:ext cx="4635563" cy="4635563"/>
      </dsp:txXfrm>
    </dsp:sp>
    <dsp:sp modelId="{9FF9719A-5B20-43F5-A219-1ADBC30214AD}">
      <dsp:nvSpPr>
        <dsp:cNvPr id="7" name="Rounded Rectangle 6"/>
        <dsp:cNvSpPr/>
      </dsp:nvSpPr>
      <dsp:spPr bwMode="white">
        <a:xfrm>
          <a:off x="5422923" y="3476673"/>
          <a:ext cx="1515110" cy="984822"/>
        </a:xfrm>
        <a:prstGeom prst="roundRect">
          <a:avLst/>
        </a:prstGeom>
        <a:solidFill>
          <a:schemeClr val="tx1">
            <a:lumMod val="50000"/>
            <a:lumOff val="50000"/>
          </a:schemeClr>
        </a:solidFill>
      </dsp:spPr>
      <dsp:style>
        <a:lnRef idx="2">
          <a:schemeClr val="lt1"/>
        </a:lnRef>
        <a:fillRef idx="1">
          <a:schemeClr val="accent1"/>
        </a:fillRef>
        <a:effectRef idx="0">
          <a:scrgbClr r="0" g="0" b="0"/>
        </a:effectRef>
        <a:fontRef idx="minor">
          <a:schemeClr val="lt1"/>
        </a:fontRef>
      </dsp:style>
      <dsp:txBody>
        <a:bodyPr vert="horz" wrap="square" lIns="45719" tIns="45719" rIns="45719" bIns="45719"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altLang="en-US" sz="1200"/>
            <a:t>Client B </a:t>
          </a:r>
          <a:r>
            <a:rPr lang="en-US" altLang="en-US" sz="1400"/>
            <a:t>Downloads </a:t>
          </a:r>
          <a:r>
            <a:rPr lang="en-US" altLang="en-US" sz="1200"/>
            <a:t>message from the FTP Server</a:t>
          </a:r>
          <a:endParaRPr lang="en-US" altLang="en-US" sz="1200"/>
        </a:p>
      </dsp:txBody>
      <dsp:txXfrm>
        <a:off x="5422923" y="3476673"/>
        <a:ext cx="1515110" cy="984822"/>
      </dsp:txXfrm>
    </dsp:sp>
    <dsp:sp modelId="{E94B8C4B-C366-48BF-8697-8C04F1C25124}">
      <dsp:nvSpPr>
        <dsp:cNvPr id="8" name="Arc 7"/>
        <dsp:cNvSpPr/>
      </dsp:nvSpPr>
      <dsp:spPr bwMode="white">
        <a:xfrm>
          <a:off x="1855438" y="492411"/>
          <a:ext cx="4635563" cy="4635563"/>
        </a:xfrm>
        <a:prstGeom prst="arc">
          <a:avLst>
            <a:gd name="adj1" fmla="val 3031929"/>
            <a:gd name="adj2" fmla="val 3949500"/>
          </a:avLst>
        </a:prstGeom>
        <a:ln>
          <a:tailEnd type="arrow" w="lg" len="med"/>
        </a:ln>
      </dsp:spPr>
      <dsp:style>
        <a:lnRef idx="1">
          <a:schemeClr val="accent1"/>
        </a:lnRef>
        <a:fillRef idx="0">
          <a:schemeClr val="accent1"/>
        </a:fillRef>
        <a:effectRef idx="0">
          <a:scrgbClr r="0" g="0" b="0"/>
        </a:effectRef>
        <a:fontRef idx="minor"/>
      </dsp:style>
      <dsp:txXfrm>
        <a:off x="1855438" y="492411"/>
        <a:ext cx="4635563" cy="4635563"/>
      </dsp:txXfrm>
    </dsp:sp>
    <dsp:sp modelId="{D3EADAB4-143F-49B5-8573-A79F4FA79E2C}">
      <dsp:nvSpPr>
        <dsp:cNvPr id="9" name="Rounded Rectangle 8"/>
        <dsp:cNvSpPr/>
      </dsp:nvSpPr>
      <dsp:spPr bwMode="white">
        <a:xfrm>
          <a:off x="3415665" y="4635563"/>
          <a:ext cx="1515110" cy="984822"/>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60960" tIns="60960" rIns="60960" bIns="609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a:sym typeface="+mn-ea"/>
            </a:rPr>
            <a:t>Client B types a </a:t>
          </a:r>
          <a:r>
            <a:rPr lang="en-US" altLang="en-US"/>
            <a:t>message</a:t>
          </a:r>
          <a:endParaRPr lang="en-US" altLang="en-US"/>
        </a:p>
      </dsp:txBody>
      <dsp:txXfrm>
        <a:off x="3415665" y="4635563"/>
        <a:ext cx="1515110" cy="984822"/>
      </dsp:txXfrm>
    </dsp:sp>
    <dsp:sp modelId="{D2FB9AAA-02FE-4314-A268-2F3D8E512C5C}">
      <dsp:nvSpPr>
        <dsp:cNvPr id="10" name="Arc 9"/>
        <dsp:cNvSpPr/>
      </dsp:nvSpPr>
      <dsp:spPr bwMode="white">
        <a:xfrm>
          <a:off x="1855438" y="492411"/>
          <a:ext cx="4635563" cy="4635563"/>
        </a:xfrm>
        <a:prstGeom prst="arc">
          <a:avLst>
            <a:gd name="adj1" fmla="val 6850499"/>
            <a:gd name="adj2" fmla="val 7768070"/>
          </a:avLst>
        </a:prstGeom>
        <a:ln>
          <a:tailEnd type="arrow" w="lg" len="med"/>
        </a:ln>
      </dsp:spPr>
      <dsp:style>
        <a:lnRef idx="1">
          <a:schemeClr val="accent1"/>
        </a:lnRef>
        <a:fillRef idx="0">
          <a:schemeClr val="accent1"/>
        </a:fillRef>
        <a:effectRef idx="0">
          <a:scrgbClr r="0" g="0" b="0"/>
        </a:effectRef>
        <a:fontRef idx="minor"/>
      </dsp:style>
      <dsp:txXfrm>
        <a:off x="1855438" y="492411"/>
        <a:ext cx="4635563" cy="4635563"/>
      </dsp:txXfrm>
    </dsp:sp>
    <dsp:sp modelId="{1BF2D754-8785-43BB-B33B-E8E13EA73F30}">
      <dsp:nvSpPr>
        <dsp:cNvPr id="11" name="Rounded Rectangle 10"/>
        <dsp:cNvSpPr/>
      </dsp:nvSpPr>
      <dsp:spPr bwMode="white">
        <a:xfrm>
          <a:off x="1408407" y="3476673"/>
          <a:ext cx="1515110" cy="984822"/>
        </a:xfrm>
        <a:prstGeom prst="roundRect">
          <a:avLst/>
        </a:prstGeom>
        <a:solidFill>
          <a:schemeClr val="tx1">
            <a:lumMod val="50000"/>
            <a:lumOff val="50000"/>
          </a:schemeClr>
        </a:solidFill>
      </dsp:spPr>
      <dsp:style>
        <a:lnRef idx="2">
          <a:schemeClr val="lt1"/>
        </a:lnRef>
        <a:fillRef idx="1">
          <a:schemeClr val="accent1"/>
        </a:fillRef>
        <a:effectRef idx="0">
          <a:scrgbClr r="0" g="0" b="0"/>
        </a:effectRef>
        <a:fontRef idx="minor">
          <a:schemeClr val="lt1"/>
        </a:fontRef>
      </dsp:style>
      <dsp:txBody>
        <a:bodyPr vert="horz" wrap="square" lIns="49530" tIns="49530" rIns="49530" bIns="4953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sz="1300">
              <a:sym typeface="+mn-ea"/>
            </a:rPr>
            <a:t>C</a:t>
          </a:r>
          <a:r>
            <a:rPr lang="en-US" sz="1300">
              <a:sym typeface="+mn-ea"/>
            </a:rPr>
            <a:t>lient B uploads the reply message to the FTP Server</a:t>
          </a:r>
          <a:endParaRPr lang="en-US" sz="1300">
            <a:sym typeface="+mn-ea"/>
          </a:endParaRPr>
        </a:p>
      </dsp:txBody>
      <dsp:txXfrm>
        <a:off x="1408407" y="3476673"/>
        <a:ext cx="1515110" cy="984822"/>
      </dsp:txXfrm>
    </dsp:sp>
    <dsp:sp modelId="{45BBA764-932B-4A31-9891-7437D938FD2C}">
      <dsp:nvSpPr>
        <dsp:cNvPr id="12" name="Arc 11"/>
        <dsp:cNvSpPr/>
      </dsp:nvSpPr>
      <dsp:spPr bwMode="white">
        <a:xfrm>
          <a:off x="1855438" y="492411"/>
          <a:ext cx="4635563" cy="4635563"/>
        </a:xfrm>
        <a:prstGeom prst="arc">
          <a:avLst>
            <a:gd name="adj1" fmla="val 10198390"/>
            <a:gd name="adj2" fmla="val 11401609"/>
          </a:avLst>
        </a:prstGeom>
        <a:ln>
          <a:tailEnd type="arrow" w="lg" len="med"/>
        </a:ln>
      </dsp:spPr>
      <dsp:style>
        <a:lnRef idx="1">
          <a:schemeClr val="accent1"/>
        </a:lnRef>
        <a:fillRef idx="0">
          <a:schemeClr val="accent1"/>
        </a:fillRef>
        <a:effectRef idx="0">
          <a:scrgbClr r="0" g="0" b="0"/>
        </a:effectRef>
        <a:fontRef idx="minor"/>
      </dsp:style>
      <dsp:txXfrm>
        <a:off x="1855438" y="492411"/>
        <a:ext cx="4635563" cy="4635563"/>
      </dsp:txXfrm>
    </dsp:sp>
    <dsp:sp modelId="{3AC315D0-3C83-4084-BE33-345E78734EB2}">
      <dsp:nvSpPr>
        <dsp:cNvPr id="13" name="Rounded Rectangle 12"/>
        <dsp:cNvSpPr/>
      </dsp:nvSpPr>
      <dsp:spPr bwMode="white">
        <a:xfrm>
          <a:off x="1408407" y="1158891"/>
          <a:ext cx="1515110" cy="984822"/>
        </a:xfrm>
        <a:prstGeom prst="roundRect">
          <a:avLst/>
        </a:prstGeom>
        <a:solidFill>
          <a:schemeClr val="tx1">
            <a:lumMod val="50000"/>
            <a:lumOff val="50000"/>
          </a:schemeClr>
        </a:solidFill>
      </dsp:spPr>
      <dsp:style>
        <a:lnRef idx="2">
          <a:schemeClr val="lt1"/>
        </a:lnRef>
        <a:fillRef idx="1">
          <a:schemeClr val="accent1"/>
        </a:fillRef>
        <a:effectRef idx="0">
          <a:scrgbClr r="0" g="0" b="0"/>
        </a:effectRef>
        <a:fontRef idx="minor">
          <a:schemeClr val="lt1"/>
        </a:fontRef>
      </dsp:style>
      <dsp:txBody>
        <a:bodyPr vert="horz" wrap="square" lIns="53340" tIns="53340" rIns="53340" bIns="5334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sz="1400">
              <a:sym typeface="+mn-ea"/>
            </a:rPr>
            <a:t>C</a:t>
          </a:r>
          <a:r>
            <a:rPr lang="en-US" altLang="en-US" sz="1400">
              <a:sym typeface="+mn-ea"/>
            </a:rPr>
            <a:t>lient A Downloads message from the FTP Server</a:t>
          </a:r>
          <a:endParaRPr lang="en-US" altLang="en-US" sz="1400">
            <a:sym typeface="+mn-ea"/>
          </a:endParaRPr>
        </a:p>
      </dsp:txBody>
      <dsp:txXfrm>
        <a:off x="1408407" y="1158891"/>
        <a:ext cx="1515110" cy="984822"/>
      </dsp:txXfrm>
    </dsp:sp>
    <dsp:sp modelId="{D00F99D7-7D4F-4DE1-938E-73959051A970}">
      <dsp:nvSpPr>
        <dsp:cNvPr id="14" name="Arc 13"/>
        <dsp:cNvSpPr/>
      </dsp:nvSpPr>
      <dsp:spPr bwMode="white">
        <a:xfrm>
          <a:off x="1855438" y="492411"/>
          <a:ext cx="4635563" cy="4635563"/>
        </a:xfrm>
        <a:prstGeom prst="arc">
          <a:avLst>
            <a:gd name="adj1" fmla="val 13831929"/>
            <a:gd name="adj2" fmla="val 14749500"/>
          </a:avLst>
        </a:prstGeom>
        <a:ln>
          <a:tailEnd type="arrow" w="lg" len="med"/>
        </a:ln>
      </dsp:spPr>
      <dsp:style>
        <a:lnRef idx="1">
          <a:schemeClr val="accent1"/>
        </a:lnRef>
        <a:fillRef idx="0">
          <a:schemeClr val="accent1"/>
        </a:fillRef>
        <a:effectRef idx="0">
          <a:scrgbClr r="0" g="0" b="0"/>
        </a:effectRef>
        <a:fontRef idx="minor"/>
      </dsp:style>
      <dsp:txXfrm>
        <a:off x="1855438" y="492411"/>
        <a:ext cx="4635563" cy="4635563"/>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rSet csTypeId="urn:microsoft.com/office/officeart/2005/8/colors/accent6_5"/>
        </dgm:pt>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8BF84-A35A-45E8-9E20-4532E26FBB7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z="1200" smtClean="0">
                <a:sym typeface="+mn-ea"/>
              </a:rPr>
              <a:t>Click to edit Master text style</a:t>
            </a:r>
            <a:endParaRPr lang="zh-CN" altLang="en-US" sz="1200" smtClean="0"/>
          </a:p>
          <a:p>
            <a:pPr lvl="1"/>
            <a:r>
              <a:rPr lang="zh-CN" altLang="en-US" sz="1200" smtClean="0">
                <a:sym typeface="+mn-ea"/>
              </a:rPr>
              <a:t>Second level</a:t>
            </a:r>
            <a:endParaRPr lang="zh-CN" altLang="en-US" sz="1200" smtClean="0"/>
          </a:p>
          <a:p>
            <a:pPr lvl="2"/>
            <a:r>
              <a:rPr lang="zh-CN" altLang="en-US" sz="1200" smtClean="0">
                <a:sym typeface="+mn-ea"/>
              </a:rPr>
              <a:t>Third level</a:t>
            </a:r>
            <a:endParaRPr lang="zh-CN" altLang="en-US" sz="1200" smtClean="0"/>
          </a:p>
          <a:p>
            <a:pPr lvl="3"/>
            <a:r>
              <a:rPr lang="zh-CN" altLang="en-US" sz="1200" smtClean="0">
                <a:sym typeface="+mn-ea"/>
              </a:rPr>
              <a:t>Fourth level</a:t>
            </a:r>
            <a:endParaRPr lang="zh-CN" altLang="en-US" sz="1200" smtClean="0"/>
          </a:p>
          <a:p>
            <a:pPr lvl="4"/>
            <a:r>
              <a:rPr lang="zh-CN" altLang="en-US" sz="1200" smtClean="0">
                <a:sym typeface="+mn-ea"/>
              </a:rPr>
              <a:t>Fifth level</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14D865-4D01-4FB4-B0E2-04B9A75A2A3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2711BBB-1695-42D8-9491-D28DC7CFDEA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5E6532C-EE3F-40F0-86BE-983BA5E621D0}" type="slidenum">
              <a:rPr lang="zh-CN" altLang="en-US" smtClean="0"/>
            </a:fld>
            <a:endParaRPr lang="zh-CN" altLang="en-US"/>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p:cNvSpPr>
            <a:spLocks noGrp="1"/>
          </p:cNvSpPr>
          <p:nvPr>
            <p:ph type="title"/>
          </p:nvPr>
        </p:nvSpPr>
        <p:spPr>
          <a:xfrm>
            <a:off x="838200" y="106045"/>
            <a:ext cx="10515600" cy="1325563"/>
          </a:xfrm>
        </p:spPr>
        <p:txBody>
          <a:bodyPr/>
          <a:lstStyle>
            <a:lvl1pPr algn="ctr">
              <a:defRPr b="1">
                <a:solidFill>
                  <a:srgbClr val="002F7F"/>
                </a:solidFill>
              </a:defRPr>
            </a:lvl1pPr>
          </a:lstStyle>
          <a:p>
            <a:r>
              <a:rPr lang="zh-CN" altLang="en-US" smtClean="0"/>
              <a:t>Click to edit Master title style</a:t>
            </a:r>
            <a:endParaRPr lang="zh-CN" altLang="en-US" smtClean="0"/>
          </a:p>
        </p:txBody>
      </p:sp>
      <p:cxnSp>
        <p:nvCxnSpPr>
          <p:cNvPr id="8" name="直接连接符 7"/>
          <p:cNvCxnSpPr/>
          <p:nvPr userDrawn="1"/>
        </p:nvCxnSpPr>
        <p:spPr>
          <a:xfrm>
            <a:off x="1539240" y="1097280"/>
            <a:ext cx="9113520" cy="0"/>
          </a:xfrm>
          <a:prstGeom prst="line">
            <a:avLst/>
          </a:prstGeom>
          <a:ln>
            <a:solidFill>
              <a:srgbClr val="002F7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Click to edit Master title style</a:t>
            </a:r>
            <a:endParaRPr lang="zh-CN" altLang="en-US" smtClean="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Click to edit Master text style</a:t>
            </a:r>
            <a:endParaRPr lang="zh-CN" altLang="en-US" smtClean="0"/>
          </a:p>
          <a:p>
            <a:pPr lvl="1"/>
            <a:r>
              <a:rPr lang="zh-CN" altLang="en-US" smtClean="0"/>
              <a:t>Second level</a:t>
            </a:r>
            <a:endParaRPr lang="zh-CN" altLang="en-US" smtClean="0"/>
          </a:p>
          <a:p>
            <a:pPr lvl="2"/>
            <a:r>
              <a:rPr lang="zh-CN" altLang="en-US" smtClean="0"/>
              <a:t>Third level</a:t>
            </a:r>
            <a:endParaRPr lang="zh-CN" altLang="en-US" smtClean="0"/>
          </a:p>
          <a:p>
            <a:pPr lvl="3"/>
            <a:r>
              <a:rPr lang="zh-CN" altLang="en-US" smtClean="0"/>
              <a:t>Fourth level</a:t>
            </a:r>
            <a:endParaRPr lang="zh-CN" altLang="en-US" smtClean="0"/>
          </a:p>
          <a:p>
            <a:pPr lvl="4"/>
            <a:r>
              <a:rPr lang="zh-CN" altLang="en-US" smtClean="0"/>
              <a:t>Fifth level</a:t>
            </a:r>
            <a:endParaRPr lang="zh-CN" altLang="en-US" smtClean="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711BBB-1695-42D8-9491-D28DC7CFDEA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E6532C-EE3F-40F0-86BE-983BA5E621D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0" y="2183765"/>
            <a:ext cx="12192000" cy="1198880"/>
          </a:xfrm>
          <a:prstGeom prst="rect">
            <a:avLst/>
          </a:prstGeom>
          <a:noFill/>
        </p:spPr>
        <p:txBody>
          <a:bodyPr wrap="square" rtlCol="0">
            <a:spAutoFit/>
          </a:bodyPr>
          <a:lstStyle/>
          <a:p>
            <a:pPr algn="ctr"/>
            <a:r>
              <a:rPr lang="en-US" sz="7200" u="sng" dirty="0" smtClean="0">
                <a:solidFill>
                  <a:schemeClr val="accent2">
                    <a:lumMod val="75000"/>
                  </a:schemeClr>
                </a:solidFill>
                <a:latin typeface="Microsoft JhengHei UI" panose="020B0604030504040204" pitchFamily="34" charset="-120"/>
                <a:ea typeface="Microsoft JhengHei UI" panose="020B0604030504040204" pitchFamily="34" charset="-120"/>
                <a:sym typeface="+mn-ea"/>
              </a:rPr>
              <a:t>FTPChat Project</a:t>
            </a:r>
            <a:endParaRPr lang="en-US" altLang="en-US" sz="7200" u="sng" dirty="0" smtClean="0">
              <a:solidFill>
                <a:schemeClr val="accent2">
                  <a:lumMod val="75000"/>
                </a:schemeClr>
              </a:solidFill>
              <a:latin typeface="Microsoft JhengHei UI" panose="020B0604030504040204" pitchFamily="34" charset="-120"/>
              <a:ea typeface="Microsoft JhengHei UI" panose="020B0604030504040204" pitchFamily="34" charset="-120"/>
              <a:sym typeface="+mn-ea"/>
            </a:endParaRPr>
          </a:p>
        </p:txBody>
      </p:sp>
      <p:cxnSp>
        <p:nvCxnSpPr>
          <p:cNvPr id="4" name="直接连接符 3"/>
          <p:cNvCxnSpPr/>
          <p:nvPr/>
        </p:nvCxnSpPr>
        <p:spPr>
          <a:xfrm>
            <a:off x="6675120" y="4998660"/>
            <a:ext cx="551688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文本框 4"/>
          <p:cNvSpPr txBox="1"/>
          <p:nvPr/>
        </p:nvSpPr>
        <p:spPr>
          <a:xfrm>
            <a:off x="0" y="3410585"/>
            <a:ext cx="12192000" cy="521970"/>
          </a:xfrm>
          <a:prstGeom prst="rect">
            <a:avLst/>
          </a:prstGeom>
          <a:noFill/>
        </p:spPr>
        <p:txBody>
          <a:bodyPr wrap="square" rtlCol="0">
            <a:spAutoFit/>
          </a:bodyPr>
          <a:p>
            <a:pPr algn="ctr"/>
            <a:r>
              <a:rPr lang="en-US" sz="2800" b="1" dirty="0">
                <a:solidFill>
                  <a:schemeClr val="accent6">
                    <a:lumMod val="25000"/>
                  </a:schemeClr>
                </a:solidFill>
                <a:latin typeface="Microsoft JhengHei UI" panose="020B0604030504040204" pitchFamily="34" charset="-120"/>
                <a:ea typeface="Microsoft JhengHei UI" panose="020B0604030504040204" pitchFamily="34" charset="-120"/>
                <a:sym typeface="+mn-ea"/>
              </a:rPr>
              <a:t>File </a:t>
            </a:r>
            <a:r>
              <a:rPr lang="en-US" sz="2800" b="1" dirty="0" smtClean="0">
                <a:solidFill>
                  <a:schemeClr val="accent6">
                    <a:lumMod val="25000"/>
                  </a:schemeClr>
                </a:solidFill>
                <a:latin typeface="Microsoft JhengHei UI" panose="020B0604030504040204" pitchFamily="34" charset="-120"/>
                <a:ea typeface="Microsoft JhengHei UI" panose="020B0604030504040204" pitchFamily="34" charset="-120"/>
                <a:sym typeface="+mn-ea"/>
              </a:rPr>
              <a:t>Transfer Protocol Chat Project</a:t>
            </a:r>
            <a:endParaRPr lang="en-US" altLang="en-US" sz="2800" b="1" dirty="0" smtClean="0">
              <a:solidFill>
                <a:schemeClr val="accent6">
                  <a:lumMod val="25000"/>
                </a:schemeClr>
              </a:solidFill>
              <a:latin typeface="Microsoft JhengHei UI" panose="020B0604030504040204" pitchFamily="34" charset="-120"/>
              <a:ea typeface="Microsoft JhengHei UI" panose="020B0604030504040204" pitchFamily="34" charset="-12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0" y="768350"/>
            <a:ext cx="12195175" cy="768350"/>
          </a:xfrm>
          <a:prstGeom prst="rect">
            <a:avLst/>
          </a:prstGeom>
          <a:noFill/>
        </p:spPr>
        <p:txBody>
          <a:bodyPr wrap="square" rtlCol="0">
            <a:spAutoFit/>
          </a:bodyPr>
          <a:lstStyle/>
          <a:p>
            <a:pPr algn="ctr"/>
            <a:r>
              <a:rPr lang="en-US" sz="4400" b="1" dirty="0">
                <a:solidFill>
                  <a:schemeClr val="accent2">
                    <a:lumMod val="75000"/>
                  </a:schemeClr>
                </a:solidFill>
                <a:latin typeface="Microsoft JhengHei" panose="020B0604030504040204" pitchFamily="34" charset="-120"/>
                <a:ea typeface="Microsoft JhengHei" panose="020B0604030504040204" pitchFamily="34" charset="-120"/>
                <a:sym typeface="+mn-ea"/>
              </a:rPr>
              <a:t>Pur</a:t>
            </a:r>
            <a:r>
              <a:rPr lang="en-US" sz="4400" b="1" dirty="0">
                <a:solidFill>
                  <a:schemeClr val="accent1">
                    <a:lumMod val="75000"/>
                  </a:schemeClr>
                </a:solidFill>
                <a:latin typeface="Microsoft JhengHei" panose="020B0604030504040204" pitchFamily="34" charset="-120"/>
                <a:ea typeface="Microsoft JhengHei" panose="020B0604030504040204" pitchFamily="34" charset="-120"/>
                <a:sym typeface="+mn-ea"/>
              </a:rPr>
              <a:t>pose</a:t>
            </a:r>
            <a:endParaRPr 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a:off x="-3175" y="2456080"/>
            <a:ext cx="12195175" cy="9779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0" y="1709420"/>
            <a:ext cx="12195175" cy="3408045"/>
          </a:xfrm>
          <a:prstGeom prst="rect">
            <a:avLst/>
          </a:prstGeom>
          <a:noFill/>
        </p:spPr>
        <p:txBody>
          <a:bodyPr wrap="square" rtlCol="0">
            <a:noAutofit/>
          </a:bodyPr>
          <a:lstStyle/>
          <a:p>
            <a:r>
              <a:rPr lang="en-US" altLang="en-US" sz="2400" dirty="0">
                <a:solidFill>
                  <a:schemeClr val="tx1"/>
                </a:solidFill>
                <a:sym typeface="+mn-ea"/>
              </a:rPr>
              <a:t>To build a secure messaging system without using WebSockets.</a:t>
            </a:r>
            <a:endParaRPr lang="en-US" altLang="en-US" sz="2400" dirty="0">
              <a:solidFill>
                <a:schemeClr val="tx1"/>
              </a:solidFill>
              <a:sym typeface="+mn-ea"/>
            </a:endParaRPr>
          </a:p>
          <a:p>
            <a:endParaRPr lang="en-US" altLang="en-US" sz="2400" dirty="0">
              <a:solidFill>
                <a:schemeClr val="tx1"/>
              </a:solidFill>
              <a:sym typeface="+mn-ea"/>
            </a:endParaRPr>
          </a:p>
          <a:p>
            <a:r>
              <a:rPr lang="en-US" altLang="en-US" sz="2400" dirty="0">
                <a:solidFill>
                  <a:schemeClr val="tx1"/>
                </a:solidFill>
                <a:sym typeface="+mn-ea"/>
              </a:rPr>
              <a:t>FTPChat uses FTP as a relay layer and applies multi-layer encryption to protect messages.</a:t>
            </a:r>
            <a:endParaRPr lang="en-US" altLang="en-US" sz="2400" dirty="0">
              <a:solidFill>
                <a:schemeClr val="tx1"/>
              </a:solidFill>
              <a:sym typeface="+mn-ea"/>
            </a:endParaRPr>
          </a:p>
          <a:p>
            <a:endParaRPr lang="en-US" altLang="en-US" sz="2400" dirty="0">
              <a:solidFill>
                <a:schemeClr val="tx1"/>
              </a:solidFill>
              <a:sym typeface="+mn-ea"/>
            </a:endParaRPr>
          </a:p>
          <a:p>
            <a:r>
              <a:rPr lang="en-US" altLang="en-US" sz="2400" dirty="0">
                <a:solidFill>
                  <a:schemeClr val="tx1"/>
                </a:solidFill>
                <a:sym typeface="+mn-ea"/>
              </a:rPr>
              <a:t>This project`s goal is to prove that legacy protocols can be repurposed for modern secure communication and decrease the reliance on WebSockets and repurpose old devices for another uses such as hosting FTP servers which reduces E-waste.</a:t>
            </a:r>
            <a:endParaRPr lang="en-US" altLang="en-US" sz="2400" dirty="0">
              <a:solidFill>
                <a:schemeClr val="tx1"/>
              </a:solidFill>
              <a:sym typeface="+mn-ea"/>
            </a:endParaRPr>
          </a:p>
          <a:p>
            <a:endParaRPr lang="en-US" altLang="en-US" sz="2400" dirty="0">
              <a:solidFill>
                <a:schemeClr val="tx1"/>
              </a:solidFill>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0" y="768350"/>
            <a:ext cx="12195175" cy="768350"/>
          </a:xfrm>
          <a:prstGeom prst="rect">
            <a:avLst/>
          </a:prstGeom>
          <a:noFill/>
        </p:spPr>
        <p:txBody>
          <a:bodyPr wrap="square" rtlCol="0">
            <a:spAutoFit/>
          </a:bodyPr>
          <a:lstStyle/>
          <a:p>
            <a:pPr algn="ctr"/>
            <a:r>
              <a:rPr lang="en-US" sz="4400" b="1" dirty="0">
                <a:solidFill>
                  <a:schemeClr val="accent2">
                    <a:lumMod val="75000"/>
                  </a:schemeClr>
                </a:solidFill>
                <a:latin typeface="Microsoft JhengHei" panose="020B0604030504040204" pitchFamily="34" charset="-120"/>
                <a:ea typeface="Microsoft JhengHei" panose="020B0604030504040204" pitchFamily="34" charset="-120"/>
                <a:sym typeface="+mn-ea"/>
              </a:rPr>
              <a:t>Features</a:t>
            </a:r>
            <a:endParaRPr 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a:off x="-3175" y="2456080"/>
            <a:ext cx="12195175" cy="9779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0" y="1709420"/>
            <a:ext cx="12195175" cy="4378960"/>
          </a:xfrm>
          <a:prstGeom prst="rect">
            <a:avLst/>
          </a:prstGeom>
          <a:noFill/>
        </p:spPr>
        <p:txBody>
          <a:bodyPr wrap="square" rtlCol="0">
            <a:noAutofit/>
          </a:bodyPr>
          <a:lstStyle/>
          <a:p>
            <a:pPr marL="457200" indent="-457200">
              <a:buAutoNum type="arabicPeriod"/>
            </a:pPr>
            <a:r>
              <a:rPr lang="en-US" altLang="en-US" sz="2400" dirty="0">
                <a:solidFill>
                  <a:schemeClr val="tx1"/>
                </a:solidFill>
                <a:sym typeface="+mn-ea"/>
              </a:rPr>
              <a:t>Local and global mode</a:t>
            </a:r>
            <a:endParaRPr lang="en-US" altLang="en-US" sz="2400" dirty="0">
              <a:solidFill>
                <a:schemeClr val="tx1"/>
              </a:solidFill>
              <a:sym typeface="+mn-ea"/>
            </a:endParaRPr>
          </a:p>
          <a:p>
            <a:pPr marL="457200" indent="-457200">
              <a:buAutoNum type="arabicPeriod"/>
            </a:pPr>
            <a:endParaRPr lang="en-US" altLang="en-US" sz="2400" dirty="0">
              <a:solidFill>
                <a:schemeClr val="tx1"/>
              </a:solidFill>
              <a:sym typeface="+mn-ea"/>
            </a:endParaRPr>
          </a:p>
          <a:p>
            <a:pPr marL="457200" indent="-457200">
              <a:buAutoNum type="arabicPeriod"/>
            </a:pPr>
            <a:r>
              <a:rPr lang="en-US" altLang="en-US" sz="2400" dirty="0">
                <a:solidFill>
                  <a:schemeClr val="tx1"/>
                </a:solidFill>
                <a:sym typeface="+mn-ea"/>
              </a:rPr>
              <a:t>Uses a low ammount of electricity which is also ECO-Friendly</a:t>
            </a:r>
            <a:endParaRPr lang="en-US" altLang="en-US" sz="2400" dirty="0">
              <a:solidFill>
                <a:schemeClr val="tx1"/>
              </a:solidFill>
              <a:sym typeface="+mn-ea"/>
            </a:endParaRPr>
          </a:p>
          <a:p>
            <a:pPr marL="457200" indent="-457200">
              <a:buAutoNum type="arabicPeriod"/>
            </a:pPr>
            <a:endParaRPr lang="en-US" altLang="en-US" sz="2400" dirty="0">
              <a:solidFill>
                <a:schemeClr val="tx1"/>
              </a:solidFill>
              <a:sym typeface="+mn-ea"/>
            </a:endParaRPr>
          </a:p>
          <a:p>
            <a:pPr marL="457200" indent="-457200">
              <a:buAutoNum type="arabicPeriod"/>
            </a:pPr>
            <a:r>
              <a:rPr lang="en-US" altLang="en-US" sz="2400" dirty="0">
                <a:solidFill>
                  <a:schemeClr val="tx1"/>
                </a:solidFill>
                <a:sym typeface="+mn-ea"/>
              </a:rPr>
              <a:t>Works without internet in local mode which make it also more secure</a:t>
            </a:r>
            <a:endParaRPr lang="en-US" altLang="en-US" sz="2400" dirty="0">
              <a:solidFill>
                <a:schemeClr val="tx1"/>
              </a:solidFill>
              <a:sym typeface="+mn-ea"/>
            </a:endParaRPr>
          </a:p>
          <a:p>
            <a:pPr marL="457200" indent="-457200">
              <a:buAutoNum type="arabicPeriod"/>
            </a:pPr>
            <a:endParaRPr lang="en-US" altLang="en-US" sz="2400" dirty="0">
              <a:solidFill>
                <a:schemeClr val="tx1"/>
              </a:solidFill>
              <a:sym typeface="+mn-ea"/>
            </a:endParaRPr>
          </a:p>
          <a:p>
            <a:pPr marL="457200" indent="-457200">
              <a:buAutoNum type="arabicPeriod"/>
            </a:pPr>
            <a:r>
              <a:rPr lang="en-US" altLang="en-US" sz="2400" dirty="0">
                <a:solidFill>
                  <a:schemeClr val="tx1"/>
                </a:solidFill>
                <a:sym typeface="+mn-ea"/>
              </a:rPr>
              <a:t>Cheap to deploy (1900 EGP for around 50-100 users)</a:t>
            </a:r>
            <a:endParaRPr lang="en-US" altLang="en-US" sz="2400" dirty="0">
              <a:solidFill>
                <a:schemeClr val="tx1"/>
              </a:solidFill>
              <a:sym typeface="+mn-ea"/>
            </a:endParaRPr>
          </a:p>
          <a:p>
            <a:pPr marL="457200" indent="-457200">
              <a:buAutoNum type="arabicPeriod"/>
            </a:pPr>
            <a:endParaRPr lang="en-US" altLang="en-US" sz="2400" dirty="0">
              <a:solidFill>
                <a:schemeClr val="tx1"/>
              </a:solidFill>
              <a:sym typeface="+mn-ea"/>
            </a:endParaRPr>
          </a:p>
          <a:p>
            <a:pPr marL="457200" indent="-457200">
              <a:buAutoNum type="arabicPeriod"/>
            </a:pPr>
            <a:r>
              <a:rPr lang="en-US" altLang="en-US" sz="2400" dirty="0">
                <a:solidFill>
                  <a:schemeClr val="tx1"/>
                </a:solidFill>
                <a:sym typeface="+mn-ea"/>
              </a:rPr>
              <a:t>24 Layer of mono-alphabetic encryption</a:t>
            </a:r>
            <a:endParaRPr lang="en-US" altLang="en-US" sz="2400" dirty="0">
              <a:solidFill>
                <a:schemeClr val="tx1"/>
              </a:solidFill>
              <a:sym typeface="+mn-ea"/>
            </a:endParaRPr>
          </a:p>
          <a:p>
            <a:pPr marL="457200" indent="-457200">
              <a:buAutoNum type="arabicPeriod"/>
            </a:pPr>
            <a:endParaRPr lang="en-US" altLang="en-US" sz="2400" dirty="0">
              <a:solidFill>
                <a:schemeClr val="tx1"/>
              </a:solidFill>
              <a:sym typeface="+mn-ea"/>
            </a:endParaRPr>
          </a:p>
          <a:p>
            <a:pPr marL="457200" indent="-457200">
              <a:buAutoNum type="arabicPeriod"/>
            </a:pPr>
            <a:r>
              <a:rPr lang="en-US" altLang="en-US" sz="2400" dirty="0">
                <a:solidFill>
                  <a:schemeClr val="tx1"/>
                </a:solidFill>
                <a:sym typeface="+mn-ea"/>
              </a:rPr>
              <a:t>Small and compact size</a:t>
            </a:r>
            <a:endParaRPr lang="en-US" altLang="en-US" sz="2400" dirty="0">
              <a:solidFill>
                <a:schemeClr val="tx1"/>
              </a:solidFill>
              <a:sym typeface="+mn-ea"/>
            </a:endParaRPr>
          </a:p>
          <a:p>
            <a:pPr marL="457200" indent="-457200">
              <a:buAutoNum type="arabicPeriod"/>
            </a:pPr>
            <a:endParaRPr lang="en-US" altLang="en-US" sz="2400" dirty="0">
              <a:solidFill>
                <a:schemeClr val="tx1"/>
              </a:solidFill>
              <a:sym typeface="+mn-ea"/>
            </a:endParaRPr>
          </a:p>
          <a:p>
            <a:pPr marL="457200" indent="-457200">
              <a:buAutoNum type="arabicPeriod"/>
            </a:pPr>
            <a:endParaRPr lang="en-US" altLang="en-US" sz="2400" dirty="0">
              <a:solidFill>
                <a:schemeClr val="tx1"/>
              </a:solidFill>
              <a:sym typeface="+mn-ea"/>
            </a:endParaRPr>
          </a:p>
          <a:p>
            <a:pPr marL="457200" indent="-457200">
              <a:buAutoNum type="arabicPeriod"/>
            </a:pPr>
            <a:endParaRPr lang="en-US" altLang="en-US" sz="2400" dirty="0">
              <a:solidFill>
                <a:schemeClr val="tx1"/>
              </a:solidFill>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0" y="774700"/>
            <a:ext cx="12190730" cy="774700"/>
          </a:xfrm>
          <a:prstGeom prst="rect">
            <a:avLst/>
          </a:prstGeom>
          <a:noFill/>
        </p:spPr>
        <p:txBody>
          <a:bodyPr wrap="square" rtlCol="0">
            <a:noAutofit/>
          </a:bodyPr>
          <a:lstStyle/>
          <a:p>
            <a:pPr algn="ctr"/>
            <a:r>
              <a:rPr 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Background </a:t>
            </a: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Research</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715" y="1695450"/>
            <a:ext cx="12190095" cy="3723005"/>
          </a:xfrm>
          <a:prstGeom prst="rect">
            <a:avLst/>
          </a:prstGeom>
          <a:noFill/>
        </p:spPr>
        <p:txBody>
          <a:bodyPr wrap="square" rtlCol="0">
            <a:noAutofit/>
          </a:bodyPr>
          <a:lstStyle/>
          <a:p>
            <a:pPr marL="342900" indent="-342900" algn="l">
              <a:buFont typeface="Arial" panose="020B0604020202020204" pitchFamily="34" charset="0"/>
              <a:buChar char="•"/>
            </a:pPr>
            <a:r>
              <a:rPr lang="en-US" altLang="en-US" sz="2400" dirty="0">
                <a:solidFill>
                  <a:srgbClr val="000000"/>
                </a:solidFill>
                <a:sym typeface="+mn-ea"/>
              </a:rPr>
              <a:t>WebSockets often introduce instability and security risks.</a:t>
            </a:r>
            <a:endParaRPr lang="en-US" altLang="en-US" sz="2400" dirty="0">
              <a:solidFill>
                <a:srgbClr val="000000"/>
              </a:solidFill>
              <a:sym typeface="+mn-ea"/>
            </a:endParaRPr>
          </a:p>
          <a:p>
            <a:pPr marL="342900" indent="-342900" algn="l">
              <a:buFont typeface="Arial" panose="020B0604020202020204" pitchFamily="34" charset="0"/>
              <a:buChar char="•"/>
            </a:pPr>
            <a:endParaRPr lang="en-US" altLang="en-US" sz="2400" dirty="0">
              <a:solidFill>
                <a:schemeClr val="bg1"/>
              </a:solidFill>
              <a:sym typeface="+mn-ea"/>
            </a:endParaRPr>
          </a:p>
          <a:p>
            <a:pPr marL="342900" indent="-342900" algn="l">
              <a:buFont typeface="Arial" panose="020B0604020202020204" pitchFamily="34" charset="0"/>
              <a:buChar char="•"/>
            </a:pPr>
            <a:r>
              <a:rPr lang="en-US" altLang="en-US" sz="2400" dirty="0">
                <a:solidFill>
                  <a:srgbClr val="000000"/>
                </a:solidFill>
                <a:sym typeface="+mn-ea"/>
              </a:rPr>
              <a:t>FTP is a legacy protocol designed for file transfer, but it can be repurposed as a message relay.</a:t>
            </a:r>
            <a:endParaRPr lang="en-US" altLang="en-US" sz="2400" dirty="0">
              <a:solidFill>
                <a:srgbClr val="000000"/>
              </a:solidFill>
              <a:sym typeface="+mn-ea"/>
            </a:endParaRPr>
          </a:p>
          <a:p>
            <a:pPr marL="342900" indent="-342900" algn="l">
              <a:buFont typeface="Arial" panose="020B0604020202020204" pitchFamily="34" charset="0"/>
              <a:buChar char="•"/>
            </a:pPr>
            <a:endParaRPr lang="en-US" altLang="en-US" sz="2400" dirty="0">
              <a:solidFill>
                <a:schemeClr val="bg1"/>
              </a:solidFill>
              <a:sym typeface="+mn-ea"/>
            </a:endParaRPr>
          </a:p>
          <a:p>
            <a:pPr marL="342900" indent="-342900" algn="l">
              <a:buFont typeface="Arial" panose="020B0604020202020204" pitchFamily="34" charset="0"/>
              <a:buChar char="•"/>
            </a:pPr>
            <a:r>
              <a:rPr lang="en-US" altLang="en-US" sz="2400" dirty="0">
                <a:solidFill>
                  <a:schemeClr val="tx1">
                    <a:lumMod val="95000"/>
                    <a:lumOff val="5000"/>
                  </a:schemeClr>
                </a:solidFill>
                <a:sym typeface="+mn-ea"/>
              </a:rPr>
              <a:t>Routers like ZTE ZXHN H188A and platforms like SFTPCloud.io support FTP hosting.</a:t>
            </a:r>
            <a:endParaRPr lang="en-US" altLang="en-US" sz="2400" dirty="0">
              <a:solidFill>
                <a:schemeClr val="accent1">
                  <a:lumMod val="75000"/>
                </a:schemeClr>
              </a:solidFill>
              <a:sym typeface="+mn-ea"/>
            </a:endParaRPr>
          </a:p>
          <a:p>
            <a:pPr marL="342900" indent="-342900" algn="l">
              <a:buFont typeface="Arial" panose="020B0604020202020204" pitchFamily="34" charset="0"/>
              <a:buChar char="•"/>
            </a:pPr>
            <a:endParaRPr lang="en-US" altLang="en-US" sz="2400" dirty="0">
              <a:solidFill>
                <a:schemeClr val="accent1">
                  <a:lumMod val="75000"/>
                </a:schemeClr>
              </a:solidFill>
              <a:sym typeface="+mn-ea"/>
            </a:endParaRPr>
          </a:p>
          <a:p>
            <a:pPr marL="342900" indent="-342900" algn="l">
              <a:buFont typeface="Arial" panose="020B0604020202020204" pitchFamily="34" charset="0"/>
              <a:buChar char="•"/>
            </a:pPr>
            <a:r>
              <a:rPr lang="en-US" altLang="en-US" sz="2400" dirty="0">
                <a:solidFill>
                  <a:srgbClr val="000000"/>
                </a:solidFill>
                <a:sym typeface="+mn-ea"/>
              </a:rPr>
              <a:t>Python provides libraries for encryption and file handling</a:t>
            </a:r>
            <a:endParaRPr lang="en-US" altLang="en-US" sz="2400" dirty="0">
              <a:solidFill>
                <a:schemeClr val="bg1"/>
              </a:solidFill>
              <a:sym typeface="+mn-ea"/>
            </a:endParaRPr>
          </a:p>
          <a:p>
            <a:pPr algn="l"/>
            <a:endParaRPr lang="en-US" altLang="en-US" sz="2400" dirty="0">
              <a:solidFill>
                <a:schemeClr val="bg1"/>
              </a:solidFill>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5715" y="774700"/>
            <a:ext cx="12190730" cy="774700"/>
          </a:xfrm>
          <a:prstGeom prst="rect">
            <a:avLst/>
          </a:prstGeom>
          <a:noFill/>
        </p:spPr>
        <p:txBody>
          <a:bodyPr wrap="square" rtlCol="0">
            <a:noAutofit/>
          </a:bodyPr>
          <a:lstStyle/>
          <a:p>
            <a:pPr algn="ctr"/>
            <a:r>
              <a:rPr 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Hypothesis</a:t>
            </a:r>
            <a:endParaRPr 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0" y="1549400"/>
            <a:ext cx="12190095" cy="3723005"/>
          </a:xfrm>
          <a:prstGeom prst="rect">
            <a:avLst/>
          </a:prstGeom>
          <a:noFill/>
        </p:spPr>
        <p:txBody>
          <a:bodyPr wrap="square" rtlCol="0">
            <a:noAutofit/>
          </a:bodyPr>
          <a:lstStyle/>
          <a:p>
            <a:pPr algn="l">
              <a:lnSpc>
                <a:spcPct val="120000"/>
              </a:lnSpc>
            </a:pPr>
            <a:r>
              <a:rPr lang="en-US" altLang="en-US" sz="2400" dirty="0">
                <a:solidFill>
                  <a:srgbClr val="000000"/>
                </a:solidFill>
                <a:sym typeface="+mn-ea"/>
              </a:rPr>
              <a:t>It`s possible to build a stable, encrypted messaging protocol that works on legacy hardware and modern networks, without tunneling tools or WebSockets dependencies. Making developing chat apps easier for software developers to devolop.</a:t>
            </a:r>
            <a:endParaRPr lang="en-US" altLang="en-US" sz="2400" dirty="0">
              <a:solidFill>
                <a:srgbClr val="000000"/>
              </a:solidFill>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635"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 Materials Used</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a:p>
            <a:pPr algn="ct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35" y="1549400"/>
            <a:ext cx="12190095" cy="5154295"/>
          </a:xfrm>
          <a:prstGeom prst="rect">
            <a:avLst/>
          </a:prstGeom>
          <a:noFill/>
        </p:spPr>
        <p:txBody>
          <a:bodyPr wrap="square" rtlCol="0">
            <a:noAutofit/>
          </a:bodyPr>
          <a:lstStyle/>
          <a:p>
            <a:pPr marL="285750" indent="-285750" algn="l">
              <a:buFont typeface="Arial" panose="020B0604020202020204" pitchFamily="34" charset="0"/>
              <a:buChar char="•"/>
            </a:pPr>
            <a:r>
              <a:rPr lang="en-US" altLang="en-US" sz="2200" dirty="0">
                <a:solidFill>
                  <a:schemeClr val="tx1"/>
                </a:solidFill>
                <a:sym typeface="+mn-ea"/>
              </a:rPr>
              <a:t>Router with FTP support (ZTE ZXHN H188A)</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SFTPCloud.io website</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Python 3.x</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Inno Setup</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Code editor (VS Code)</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Internet connection for global testing </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32GB pen drive</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Total Price: 1900 EGP</a:t>
            </a:r>
            <a:endParaRPr lang="en-US" altLang="en-US" sz="2200" dirty="0">
              <a:solidFill>
                <a:schemeClr val="tx1"/>
              </a:solidFill>
              <a:sym typeface="+mn-ea"/>
            </a:endParaRPr>
          </a:p>
          <a:p>
            <a:pPr algn="l"/>
            <a:endParaRPr lang="en-US" altLang="en-US" sz="2200" dirty="0">
              <a:solidFill>
                <a:schemeClr val="tx1"/>
              </a:solidFill>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635"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Procedure</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a:p>
            <a:pPr algn="ct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715" y="1549400"/>
            <a:ext cx="12190095" cy="4260850"/>
          </a:xfrm>
          <a:prstGeom prst="rect">
            <a:avLst/>
          </a:prstGeom>
          <a:noFill/>
        </p:spPr>
        <p:txBody>
          <a:bodyPr wrap="square" rtlCol="0">
            <a:noAutofit/>
          </a:bodyPr>
          <a:lstStyle/>
          <a:p>
            <a:pPr marL="285750" indent="-285750" algn="l">
              <a:buFont typeface="Arial" panose="020B0604020202020204" pitchFamily="34" charset="0"/>
              <a:buChar char="•"/>
            </a:pPr>
            <a:r>
              <a:rPr lang="en-US" altLang="en-US" sz="2400" dirty="0">
                <a:solidFill>
                  <a:srgbClr val="000000"/>
                </a:solidFill>
                <a:sym typeface="+mn-ea"/>
              </a:rPr>
              <a:t>Define the problem: decrease  WebSockets dependency.</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Learn Python and FTP file handling.</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Write relay logic using FTP upload/download.</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Implement 24-layer mono-alphabetic encryption.</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Host protocol on router and SFTPCloud.io.</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Test message delivery and encryption integrity.</a:t>
            </a:r>
            <a:endParaRPr lang="en-US" altLang="en-US" sz="2400" dirty="0">
              <a:solidFill>
                <a:schemeClr val="bg1"/>
              </a:solidFill>
              <a:sym typeface="+mn-ea"/>
            </a:endParaRPr>
          </a:p>
          <a:p>
            <a:pPr algn="l"/>
            <a:endParaRPr lang="en-US" altLang="en-US" sz="2400" dirty="0">
              <a:solidFill>
                <a:schemeClr val="bg1"/>
              </a:solidFill>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635" y="0"/>
            <a:ext cx="12191365" cy="1445260"/>
          </a:xfrm>
          <a:prstGeom prst="rect">
            <a:avLst/>
          </a:prstGeom>
          <a:noFill/>
        </p:spPr>
        <p:txBody>
          <a:bodyPr wrap="square" rtlCol="0">
            <a:spAutoFit/>
          </a:bodyPr>
          <a:lstStyle/>
          <a:p>
            <a:pPr algn="ctr"/>
            <a:r>
              <a:rPr lang="en-US" altLang="en-US" sz="4400" b="1" dirty="0" smtClean="0">
                <a:solidFill>
                  <a:schemeClr val="accent2">
                    <a:lumMod val="75000"/>
                  </a:schemeClr>
                </a:solidFill>
              </a:rPr>
              <a:t>Visualizing how it works</a:t>
            </a:r>
            <a:endParaRPr lang="en-US" altLang="en-US" sz="4400" b="1" dirty="0" smtClean="0">
              <a:solidFill>
                <a:schemeClr val="accent2">
                  <a:lumMod val="75000"/>
                </a:schemeClr>
              </a:solidFill>
            </a:endParaRPr>
          </a:p>
          <a:p>
            <a:pPr algn="ctr"/>
            <a:endParaRPr lang="en-US" altLang="en-US" sz="4400" b="1" dirty="0" smtClean="0">
              <a:solidFill>
                <a:schemeClr val="accent2">
                  <a:lumMod val="75000"/>
                </a:schemeClr>
              </a:solidFill>
            </a:endParaRPr>
          </a:p>
        </p:txBody>
      </p:sp>
      <p:cxnSp>
        <p:nvCxnSpPr>
          <p:cNvPr id="4" name="直接连接符 3"/>
          <p:cNvCxnSpPr/>
          <p:nvPr/>
        </p:nvCxnSpPr>
        <p:spPr>
          <a:xfrm flipV="1">
            <a:off x="40005" y="1236880"/>
            <a:ext cx="12151995" cy="508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7" name="Diagram 6"/>
          <p:cNvGraphicFramePr/>
          <p:nvPr/>
        </p:nvGraphicFramePr>
        <p:xfrm>
          <a:off x="1854200" y="777240"/>
          <a:ext cx="8346440" cy="562038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 name="Left Bracket 7"/>
          <p:cNvSpPr/>
          <p:nvPr/>
        </p:nvSpPr>
        <p:spPr>
          <a:xfrm>
            <a:off x="4826000" y="3308350"/>
            <a:ext cx="2165985" cy="1248410"/>
          </a:xfrm>
          <a:prstGeom prst="leftBracket">
            <a:avLst>
              <a:gd name="adj" fmla="val 406"/>
            </a:avLst>
          </a:prstGeom>
        </p:spPr>
        <p:style>
          <a:lnRef idx="3">
            <a:schemeClr val="accent1"/>
          </a:lnRef>
          <a:fillRef idx="0">
            <a:srgbClr val="FFFFFF"/>
          </a:fillRef>
          <a:effectRef idx="0">
            <a:srgbClr val="FFFFFF"/>
          </a:effectRef>
          <a:fontRef idx="minor">
            <a:schemeClr val="tx1"/>
          </a:fontRef>
        </p:style>
        <p:txBody>
          <a:bodyPr rtlCol="0" anchor="ctr"/>
          <a:p>
            <a:pPr algn="l"/>
            <a:r>
              <a:rPr lang="en-US">
                <a:solidFill>
                  <a:srgbClr val="000000"/>
                </a:solidFill>
              </a:rPr>
              <a:t>FTPChat Protocol  </a:t>
            </a:r>
            <a:endParaRPr lang="en-US">
              <a:solidFill>
                <a:schemeClr val="bg1"/>
              </a:solidFill>
            </a:endParaRPr>
          </a:p>
          <a:p>
            <a:pPr algn="l"/>
            <a:r>
              <a:rPr lang="en-US">
                <a:solidFill>
                  <a:srgbClr val="000000"/>
                </a:solidFill>
              </a:rPr>
              <a:t>  cycle</a:t>
            </a:r>
            <a:endParaRPr lang="en-US">
              <a:solidFill>
                <a:schemeClr val="bg1"/>
              </a:solidFill>
            </a:endParaRPr>
          </a:p>
        </p:txBody>
      </p:sp>
      <p:sp>
        <p:nvSpPr>
          <p:cNvPr id="10" name="Text Box 9"/>
          <p:cNvSpPr txBox="1"/>
          <p:nvPr/>
        </p:nvSpPr>
        <p:spPr>
          <a:xfrm>
            <a:off x="40005" y="6397625"/>
            <a:ext cx="4528820" cy="460375"/>
          </a:xfrm>
          <a:prstGeom prst="rect">
            <a:avLst/>
          </a:prstGeom>
          <a:noFill/>
        </p:spPr>
        <p:txBody>
          <a:bodyPr wrap="square" rtlCol="0">
            <a:spAutoFit/>
          </a:bodyPr>
          <a:p>
            <a:r>
              <a:rPr lang="en-US" altLang="en-US" sz="1200">
                <a:solidFill>
                  <a:srgbClr val="000000"/>
                </a:solidFill>
              </a:rPr>
              <a:t>Note: The FTP server acts as a relay node, secure, WebSockets-free, and encrypted.</a:t>
            </a:r>
            <a:endParaRPr lang="en-US" altLang="en-US" sz="120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635"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Data Analysis</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a:p>
            <a:pPr algn="ct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35" y="1549400"/>
            <a:ext cx="12190095" cy="3723005"/>
          </a:xfrm>
          <a:prstGeom prst="rect">
            <a:avLst/>
          </a:prstGeom>
          <a:noFill/>
        </p:spPr>
        <p:txBody>
          <a:bodyPr wrap="square" rtlCol="0">
            <a:noAutofit/>
          </a:bodyPr>
          <a:lstStyle/>
          <a:p>
            <a:pPr marL="285750" indent="-285750" algn="l">
              <a:buFont typeface="Arial" panose="020B0604020202020204" pitchFamily="34" charset="0"/>
              <a:buChar char="•"/>
            </a:pPr>
            <a:r>
              <a:rPr lang="en-US" altLang="en-US" sz="2200" dirty="0">
                <a:solidFill>
                  <a:schemeClr val="tx1">
                    <a:lumMod val="95000"/>
                    <a:lumOff val="5000"/>
                  </a:schemeClr>
                </a:solidFill>
                <a:sym typeface="+mn-ea"/>
              </a:rPr>
              <a:t>FTPChat successfully relayed encrypted messages without using WebSockets.</a:t>
            </a: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r>
              <a:rPr lang="en-US" altLang="en-US" sz="2200" dirty="0">
                <a:solidFill>
                  <a:schemeClr val="tx1">
                    <a:lumMod val="95000"/>
                    <a:lumOff val="5000"/>
                  </a:schemeClr>
                </a:solidFill>
                <a:sym typeface="+mn-ea"/>
              </a:rPr>
              <a:t>Relay speed remained consistent across both local routers and cloud-hosted FTP servers.</a:t>
            </a: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r>
              <a:rPr lang="en-US" altLang="en-US" sz="2200" dirty="0">
                <a:solidFill>
                  <a:schemeClr val="tx1">
                    <a:lumMod val="95000"/>
                    <a:lumOff val="5000"/>
                  </a:schemeClr>
                </a:solidFill>
                <a:sym typeface="+mn-ea"/>
              </a:rPr>
              <a:t>The 24-layer encryption added security without increasing file size or causing latency.</a:t>
            </a: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r>
              <a:rPr lang="en-US" altLang="en-US" sz="2200" dirty="0">
                <a:solidFill>
                  <a:schemeClr val="tx1">
                    <a:lumMod val="95000"/>
                    <a:lumOff val="5000"/>
                  </a:schemeClr>
                </a:solidFill>
                <a:sym typeface="+mn-ea"/>
              </a:rPr>
              <a:t>Routers like the ZTE ZXHN H188A can hold 50-100 users (According to </a:t>
            </a:r>
            <a:r>
              <a:rPr lang="en-US" altLang="ar-EG" sz="2200" dirty="0">
                <a:solidFill>
                  <a:schemeClr val="tx1">
                    <a:lumMod val="95000"/>
                    <a:lumOff val="5000"/>
                  </a:schemeClr>
                </a:solidFill>
                <a:sym typeface="+mn-ea"/>
              </a:rPr>
              <a:t>the </a:t>
            </a:r>
            <a:r>
              <a:rPr lang="en-US" altLang="en-US" sz="2200" dirty="0">
                <a:solidFill>
                  <a:schemeClr val="tx1">
                    <a:lumMod val="95000"/>
                    <a:lumOff val="5000"/>
                  </a:schemeClr>
                </a:solidFill>
                <a:sym typeface="+mn-ea"/>
              </a:rPr>
              <a:t>calculations).</a:t>
            </a: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r>
              <a:rPr lang="en-US" altLang="en-US" sz="2200" dirty="0">
                <a:solidFill>
                  <a:schemeClr val="tx1">
                    <a:lumMod val="95000"/>
                    <a:lumOff val="5000"/>
                  </a:schemeClr>
                </a:solidFill>
                <a:sym typeface="+mn-ea"/>
              </a:rPr>
              <a:t>AI-based inspection tools were unable to decrypt the messages, confirming encryption strength.</a:t>
            </a: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r>
              <a:rPr lang="en-US" altLang="en-US" sz="2200" dirty="0">
                <a:solidFill>
                  <a:schemeClr val="tx1">
                    <a:lumMod val="95000"/>
                    <a:lumOff val="5000"/>
                  </a:schemeClr>
                </a:solidFill>
                <a:sym typeface="+mn-ea"/>
              </a:rPr>
              <a:t>FTPChat is eco-friendly, since it runs on low-power devices such as routers.</a:t>
            </a: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endParaRPr lang="en-US" altLang="en-US" sz="2200" dirty="0">
              <a:solidFill>
                <a:schemeClr val="tx1">
                  <a:lumMod val="95000"/>
                  <a:lumOff val="5000"/>
                </a:schemeClr>
              </a:solidFill>
              <a:sym typeface="+mn-ea"/>
            </a:endParaRPr>
          </a:p>
          <a:p>
            <a:pPr algn="l"/>
            <a:endParaRPr lang="en-US" altLang="en-US" sz="2200" dirty="0">
              <a:solidFill>
                <a:schemeClr val="tx1">
                  <a:lumMod val="95000"/>
                  <a:lumOff val="5000"/>
                </a:schemeClr>
              </a:solidFill>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5715"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Applications</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350" y="1549400"/>
            <a:ext cx="12190095" cy="3723005"/>
          </a:xfrm>
          <a:prstGeom prst="rect">
            <a:avLst/>
          </a:prstGeom>
          <a:noFill/>
        </p:spPr>
        <p:txBody>
          <a:bodyPr wrap="square" rtlCol="0">
            <a:noAutofit/>
          </a:bodyPr>
          <a:lstStyle/>
          <a:p>
            <a:pPr algn="l"/>
            <a:r>
              <a:rPr lang="en-US" altLang="en-US" sz="2400" dirty="0">
                <a:solidFill>
                  <a:schemeClr val="tx1"/>
                </a:solidFill>
                <a:sym typeface="+mn-ea"/>
              </a:rPr>
              <a:t>• Secure chat in schools and labs</a:t>
            </a:r>
            <a:endParaRPr lang="en-US" altLang="en-US" sz="2400" dirty="0">
              <a:solidFill>
                <a:schemeClr val="tx1"/>
              </a:solidFill>
              <a:sym typeface="+mn-ea"/>
            </a:endParaRPr>
          </a:p>
          <a:p>
            <a:pPr algn="l"/>
            <a:r>
              <a:rPr lang="en-US" altLang="en-US" sz="2400" dirty="0">
                <a:solidFill>
                  <a:schemeClr val="tx1"/>
                </a:solidFill>
                <a:sym typeface="+mn-ea"/>
              </a:rPr>
              <a:t>Easy setup for private messaging without WebSockets.</a:t>
            </a:r>
            <a:endParaRPr lang="en-US" altLang="en-US" sz="2400" dirty="0">
              <a:solidFill>
                <a:schemeClr val="tx1"/>
              </a:solidFill>
              <a:sym typeface="+mn-ea"/>
            </a:endParaRPr>
          </a:p>
          <a:p>
            <a:pPr algn="l"/>
            <a:endParaRPr lang="en-US" altLang="en-US" sz="2400" dirty="0">
              <a:solidFill>
                <a:schemeClr val="tx1"/>
              </a:solidFill>
              <a:sym typeface="+mn-ea"/>
            </a:endParaRPr>
          </a:p>
          <a:p>
            <a:pPr algn="l"/>
            <a:r>
              <a:rPr lang="en-US" altLang="en-US" sz="2400" dirty="0">
                <a:solidFill>
                  <a:schemeClr val="tx1"/>
                </a:solidFill>
                <a:sym typeface="+mn-ea"/>
              </a:rPr>
              <a:t>• Works on old devices</a:t>
            </a:r>
            <a:endParaRPr lang="en-US" altLang="en-US" sz="2400" dirty="0">
              <a:solidFill>
                <a:schemeClr val="tx1"/>
              </a:solidFill>
              <a:sym typeface="+mn-ea"/>
            </a:endParaRPr>
          </a:p>
          <a:p>
            <a:pPr algn="l"/>
            <a:r>
              <a:rPr lang="en-US" altLang="en-US" sz="2400" dirty="0">
                <a:solidFill>
                  <a:schemeClr val="tx1"/>
                </a:solidFill>
                <a:sym typeface="+mn-ea"/>
              </a:rPr>
              <a:t>Runs on routers, old PCs, and low-power systems.</a:t>
            </a:r>
            <a:endParaRPr lang="en-US" altLang="en-US" sz="2400" dirty="0">
              <a:solidFill>
                <a:schemeClr val="tx1"/>
              </a:solidFill>
              <a:sym typeface="+mn-ea"/>
            </a:endParaRPr>
          </a:p>
          <a:p>
            <a:pPr algn="l"/>
            <a:endParaRPr lang="en-US" altLang="en-US" sz="2400" dirty="0">
              <a:solidFill>
                <a:schemeClr val="tx1"/>
              </a:solidFill>
              <a:sym typeface="+mn-ea"/>
            </a:endParaRPr>
          </a:p>
          <a:p>
            <a:pPr algn="l"/>
            <a:r>
              <a:rPr lang="en-US" altLang="en-US" sz="2400" dirty="0">
                <a:solidFill>
                  <a:schemeClr val="tx1"/>
                </a:solidFill>
                <a:sym typeface="+mn-ea"/>
              </a:rPr>
              <a:t>• Company communication</a:t>
            </a:r>
            <a:endParaRPr lang="en-US" altLang="en-US" sz="2400" dirty="0">
              <a:solidFill>
                <a:schemeClr val="tx1"/>
              </a:solidFill>
              <a:sym typeface="+mn-ea"/>
            </a:endParaRPr>
          </a:p>
          <a:p>
            <a:pPr algn="l"/>
            <a:r>
              <a:rPr lang="en-US" altLang="en-US" sz="2400" dirty="0">
                <a:solidFill>
                  <a:schemeClr val="tx1"/>
                </a:solidFill>
                <a:sym typeface="+mn-ea"/>
              </a:rPr>
              <a:t>Safe internal messaging between employees using FTP.</a:t>
            </a:r>
            <a:endParaRPr lang="en-US" altLang="en-US" sz="2400" dirty="0">
              <a:solidFill>
                <a:schemeClr val="tx1"/>
              </a:solidFill>
              <a:sym typeface="+mn-ea"/>
            </a:endParaRPr>
          </a:p>
          <a:p>
            <a:pPr algn="l"/>
            <a:endParaRPr lang="en-US" altLang="en-US" sz="2400" dirty="0">
              <a:solidFill>
                <a:schemeClr val="tx1"/>
              </a:solidFill>
              <a:sym typeface="+mn-ea"/>
            </a:endParaRPr>
          </a:p>
          <a:p>
            <a:pPr algn="l"/>
            <a:r>
              <a:rPr lang="en-US" altLang="en-US" sz="2400" dirty="0">
                <a:solidFill>
                  <a:schemeClr val="tx1"/>
                </a:solidFill>
                <a:sym typeface="+mn-ea"/>
              </a:rPr>
              <a:t>• Global and local use</a:t>
            </a:r>
            <a:endParaRPr lang="en-US" altLang="en-US" sz="2400" dirty="0">
              <a:solidFill>
                <a:schemeClr val="tx1"/>
              </a:solidFill>
              <a:sym typeface="+mn-ea"/>
            </a:endParaRPr>
          </a:p>
          <a:p>
            <a:pPr algn="l"/>
            <a:r>
              <a:rPr lang="en-US" altLang="en-US" sz="2400" dirty="0">
                <a:solidFill>
                  <a:schemeClr val="tx1"/>
                </a:solidFill>
                <a:sym typeface="+mn-ea"/>
              </a:rPr>
              <a:t>Works with cloud servers or home routers, no special tools needed.</a:t>
            </a:r>
            <a:endParaRPr lang="en-US" altLang="en-US" sz="2400" dirty="0">
              <a:solidFill>
                <a:schemeClr val="tx1"/>
              </a:solidFill>
              <a:sym typeface="+mn-ea"/>
            </a:endParaRPr>
          </a:p>
          <a:p>
            <a:pPr algn="l"/>
            <a:endParaRPr lang="en-US" altLang="en-US" sz="2400" dirty="0">
              <a:solidFill>
                <a:schemeClr val="tx1"/>
              </a:solidFill>
              <a:sym typeface="+mn-ea"/>
            </a:endParaRPr>
          </a:p>
          <a:p>
            <a:pPr algn="l"/>
            <a:endParaRPr lang="en-US" altLang="en-US" sz="2400" dirty="0">
              <a:solidFill>
                <a:schemeClr val="tx1"/>
              </a:solidFill>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1270"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Abstract</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715" y="1549400"/>
            <a:ext cx="12190095" cy="3723005"/>
          </a:xfrm>
          <a:prstGeom prst="rect">
            <a:avLst/>
          </a:prstGeom>
          <a:noFill/>
        </p:spPr>
        <p:txBody>
          <a:bodyPr wrap="square" rtlCol="0">
            <a:noAutofit/>
          </a:bodyPr>
          <a:lstStyle/>
          <a:p>
            <a:pPr algn="l"/>
            <a:r>
              <a:rPr lang="en-US" altLang="en-US" sz="2400" dirty="0">
                <a:solidFill>
                  <a:srgbClr val="000000"/>
                </a:solidFill>
                <a:sym typeface="+mn-ea"/>
              </a:rPr>
              <a:t>FTPChat is a Python-based messaging protocol that replaces WebSockets with FTP-based encrypted message relays. It uses FTP servers as secure hubs, enabling asynchronous communication even in firewall-enabled PCs or legacy networks.  </a:t>
            </a:r>
            <a:endParaRPr lang="en-US" altLang="en-US" sz="2400" dirty="0">
              <a:solidFill>
                <a:srgbClr val="000000"/>
              </a:solidFill>
              <a:sym typeface="+mn-ea"/>
            </a:endParaRPr>
          </a:p>
          <a:p>
            <a:pPr algn="l"/>
            <a:endParaRPr lang="en-US" altLang="en-US" sz="2400" dirty="0">
              <a:solidFill>
                <a:srgbClr val="000000"/>
              </a:solidFill>
              <a:sym typeface="+mn-ea"/>
            </a:endParaRPr>
          </a:p>
          <a:p>
            <a:pPr algn="l"/>
            <a:r>
              <a:rPr lang="en-US" altLang="en-US" sz="2400" dirty="0">
                <a:solidFill>
                  <a:srgbClr val="000000"/>
                </a:solidFill>
                <a:sym typeface="+mn-ea"/>
              </a:rPr>
              <a:t>Messages are encrypted with a 24-layer cipher and exchanged via upload/download cycles. Ideal for environments where WebSockets are blocked or unreliable.</a:t>
            </a:r>
            <a:endParaRPr lang="en-US" altLang="en-US" sz="2400" dirty="0">
              <a:solidFill>
                <a:srgbClr val="000000"/>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5715"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Results</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0" y="1549400"/>
            <a:ext cx="12190095" cy="3723005"/>
          </a:xfrm>
          <a:prstGeom prst="rect">
            <a:avLst/>
          </a:prstGeom>
          <a:noFill/>
        </p:spPr>
        <p:txBody>
          <a:bodyPr wrap="square" rtlCol="0">
            <a:noAutofit/>
          </a:bodyPr>
          <a:lstStyle/>
          <a:p>
            <a:pPr marL="285750" indent="-285750" algn="l">
              <a:buFont typeface="Arial" panose="020B0604020202020204" pitchFamily="34" charset="0"/>
              <a:buChar char="•"/>
            </a:pPr>
            <a:r>
              <a:rPr lang="en-US" altLang="en-US" sz="2400" dirty="0">
                <a:solidFill>
                  <a:srgbClr val="000000"/>
                </a:solidFill>
                <a:sym typeface="+mn-ea"/>
              </a:rPr>
              <a:t>Messages sent and received successfully</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Encryption verified across all tests</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Protocol hosted on ZTE router and SFTPCloud.io</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No tunneling tools or WebSockets libraries used</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Stable performance across devices</a:t>
            </a:r>
            <a:endParaRPr lang="en-US" altLang="en-US" sz="2400" dirty="0">
              <a:solidFill>
                <a:schemeClr val="bg1"/>
              </a:solidFill>
              <a:sym typeface="+mn-ea"/>
            </a:endParaRPr>
          </a:p>
          <a:p>
            <a:pPr algn="l"/>
            <a:endParaRPr lang="en-US" altLang="en-US" sz="2400" dirty="0">
              <a:solidFill>
                <a:schemeClr val="bg1"/>
              </a:solidFill>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92075"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Conclusion</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a:p>
            <a:pPr algn="ct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35" y="1549400"/>
            <a:ext cx="12190095" cy="3723005"/>
          </a:xfrm>
          <a:prstGeom prst="rect">
            <a:avLst/>
          </a:prstGeom>
          <a:noFill/>
        </p:spPr>
        <p:txBody>
          <a:bodyPr wrap="square" rtlCol="0">
            <a:noAutofit/>
          </a:bodyPr>
          <a:lstStyle/>
          <a:p>
            <a:pPr indent="0" algn="l">
              <a:buNone/>
            </a:pPr>
            <a:r>
              <a:rPr lang="en-US" altLang="en-US" sz="2400" dirty="0">
                <a:solidFill>
                  <a:srgbClr val="000000"/>
                </a:solidFill>
                <a:sym typeface="+mn-ea"/>
              </a:rPr>
              <a:t>FTP can be used as a secure relay for encrypted messaging.</a:t>
            </a:r>
            <a:endParaRPr lang="en-US" altLang="en-US" sz="2400" dirty="0">
              <a:solidFill>
                <a:srgbClr val="000000"/>
              </a:solidFill>
              <a:sym typeface="+mn-ea"/>
            </a:endParaRPr>
          </a:p>
          <a:p>
            <a:pPr algn="l"/>
            <a:endParaRPr lang="en-US" altLang="en-US" sz="2400" dirty="0">
              <a:solidFill>
                <a:schemeClr val="bg1"/>
              </a:solidFill>
              <a:sym typeface="+mn-ea"/>
            </a:endParaRPr>
          </a:p>
          <a:p>
            <a:pPr algn="l"/>
            <a:r>
              <a:rPr lang="en-US" altLang="en-US" sz="2400" dirty="0">
                <a:solidFill>
                  <a:srgbClr val="000000"/>
                </a:solidFill>
                <a:sym typeface="+mn-ea"/>
              </a:rPr>
              <a:t>FTPChat proves that legacy protocols can be repurposed for modern secure communication. </a:t>
            </a:r>
            <a:endParaRPr lang="en-US" altLang="en-US" sz="2400" dirty="0">
              <a:solidFill>
                <a:srgbClr val="000000"/>
              </a:solidFill>
              <a:sym typeface="+mn-ea"/>
            </a:endParaRPr>
          </a:p>
          <a:p>
            <a:pPr algn="l"/>
            <a:endParaRPr lang="en-US" altLang="en-US" sz="2400" dirty="0">
              <a:solidFill>
                <a:srgbClr val="000000"/>
              </a:solidFill>
              <a:sym typeface="+mn-ea"/>
            </a:endParaRPr>
          </a:p>
          <a:p>
            <a:pPr algn="l"/>
            <a:r>
              <a:rPr lang="en-US" altLang="en-US" sz="2400" dirty="0">
                <a:solidFill>
                  <a:srgbClr val="000000"/>
                </a:solidFill>
                <a:sym typeface="+mn-ea"/>
              </a:rPr>
              <a:t>The system is WebSockets-free, stable, and deployable across various platforms.</a:t>
            </a:r>
            <a:endParaRPr lang="en-US" altLang="en-US" sz="2400" dirty="0">
              <a:solidFill>
                <a:schemeClr val="bg1"/>
              </a:solidFill>
              <a:sym typeface="+mn-ea"/>
            </a:endParaRPr>
          </a:p>
          <a:p>
            <a:pPr algn="l"/>
            <a:endParaRPr lang="en-US" altLang="en-US" sz="2400" dirty="0">
              <a:solidFill>
                <a:schemeClr val="bg1"/>
              </a:solidFill>
              <a:sym typeface="+mn-ea"/>
            </a:endParaRPr>
          </a:p>
        </p:txBody>
      </p:sp>
    </p:spTree>
  </p:cSld>
  <p:clrMapOvr>
    <a:masterClrMapping/>
  </p:clrMapOvr>
</p:sld>
</file>

<file path=ppt/theme/theme1.xml><?xml version="1.0" encoding="utf-8"?>
<a:theme xmlns:a="http://schemas.openxmlformats.org/drawingml/2006/main" name="Office 主题">
  <a:themeElements>
    <a:clrScheme name="046">
      <a:dk1>
        <a:srgbClr val="000000"/>
      </a:dk1>
      <a:lt1>
        <a:srgbClr val="FFFFFF"/>
      </a:lt1>
      <a:dk2>
        <a:srgbClr val="5E5E5E"/>
      </a:dk2>
      <a:lt2>
        <a:srgbClr val="DDDDDD"/>
      </a:lt2>
      <a:accent1>
        <a:srgbClr val="0063BE"/>
      </a:accent1>
      <a:accent2>
        <a:srgbClr val="0178D9"/>
      </a:accent2>
      <a:accent3>
        <a:srgbClr val="3688F7"/>
      </a:accent3>
      <a:accent4>
        <a:srgbClr val="47A1FE"/>
      </a:accent4>
      <a:accent5>
        <a:srgbClr val="6EB8FF"/>
      </a:accent5>
      <a:accent6>
        <a:srgbClr val="9FD2FF"/>
      </a:accent6>
      <a:hlink>
        <a:srgbClr val="F59E00"/>
      </a:hlink>
      <a:folHlink>
        <a:srgbClr val="B2B2B2"/>
      </a:folHlink>
    </a:clrScheme>
    <a:fontScheme name="微软雅黑">
      <a:majorFont>
        <a:latin typeface="微软雅黑"/>
        <a:ea typeface="Microsoft YaHei UI"/>
        <a:cs typeface=""/>
      </a:majorFont>
      <a:minorFont>
        <a:latin typeface="微软雅黑"/>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3545</Words>
  <Application>WPS Presentation</Application>
  <PresentationFormat>宽屏</PresentationFormat>
  <Paragraphs>151</Paragraphs>
  <Slides>13</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SimSun</vt:lpstr>
      <vt:lpstr>Wingdings</vt:lpstr>
      <vt:lpstr>Microsoft JhengHei UI</vt:lpstr>
      <vt:lpstr>Microsoft JhengHei</vt:lpstr>
      <vt:lpstr>Microsoft YaHei</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Ahmed Omar</cp:lastModifiedBy>
  <cp:revision>57</cp:revision>
  <dcterms:created xsi:type="dcterms:W3CDTF">2015-12-24T07:33:00Z</dcterms:created>
  <dcterms:modified xsi:type="dcterms:W3CDTF">2025-11-27T13:09:34Z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1033-12.2.0.23155</vt:lpwstr>
  </property>
  <property fmtid="{D5CDD505-2E9C-101B-9397-08002B2CF9AE}" pid="3" name="ICV">
    <vt:lpwstr>57BBB193C8074D1886102254E715A5DB_13</vt:lpwstr>
  </property>
</Properties>
</file>